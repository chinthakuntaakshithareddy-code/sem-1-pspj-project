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Lst>
  <p:sldSz cx="12192000" cy="6858000"/>
  <p:notesSz cx="6858000" cy="12192000"/>
  <p:embeddedFontLst>
    <p:embeddedFont>
      <p:font typeface="Geist" panose="020B0604020202020204" charset="0"/>
      <p:regular r:id="rId15"/>
    </p:embeddedFont>
    <p:embeddedFont>
      <p:font typeface="Geist Bold" panose="020B0604020202020204" charset="0"/>
      <p:regular r:id="rId16"/>
    </p:embeddedFont>
    <p:embeddedFont>
      <p:font typeface="Geist Medium" panose="020B0604020202020204" charset="0"/>
      <p:regular r:id="rId17"/>
    </p:embeddedFont>
    <p:embeddedFont>
      <p:font typeface="Geist Mono" panose="020B0604020202020204" charset="0"/>
      <p:regular r:id="rId18"/>
    </p:embeddedFont>
    <p:embeddedFont>
      <p:font typeface="Geist Mono Medium" panose="020B060402020202020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8904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manual booking difficulties and why a simple console booking system is needed.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BookMyShow, District and TicketNew, then relate their common booking workflow to our Java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what the Java console booking system achieves and point to future enhancements.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B3429"/>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14952" y="0"/>
            <a:ext cx="6476143" cy="6858000"/>
          </a:xfrm>
          <a:prstGeom prst="rect">
            <a:avLst/>
          </a:prstGeom>
        </p:spPr>
      </p:pic>
      <p:sp>
        <p:nvSpPr>
          <p:cNvPr id="3" name="Text 0"/>
          <p:cNvSpPr/>
          <p:nvPr/>
        </p:nvSpPr>
        <p:spPr>
          <a:xfrm>
            <a:off x="714952" y="926405"/>
            <a:ext cx="6285648" cy="159941"/>
          </a:xfrm>
          <a:prstGeom prst="rect">
            <a:avLst/>
          </a:prstGeom>
          <a:noFill/>
          <a:ln/>
        </p:spPr>
        <p:txBody>
          <a:bodyPr wrap="none" lIns="0" tIns="0" rIns="0" bIns="0" rtlCol="0" anchor="t"/>
          <a:lstStyle/>
          <a:p>
            <a:pPr marL="0" indent="0" algn="l">
              <a:lnSpc>
                <a:spcPct val="100000"/>
              </a:lnSpc>
              <a:buNone/>
            </a:pPr>
            <a:r>
              <a:rPr lang="en-US" sz="1050" dirty="0">
                <a:solidFill>
                  <a:srgbClr val="A9C0B2"/>
                </a:solidFill>
                <a:latin typeface="Geist Mono Medium" pitchFamily="34" charset="0"/>
                <a:ea typeface="Geist Mono Medium" pitchFamily="34" charset="-122"/>
                <a:cs typeface="Geist Mono Medium" pitchFamily="34" charset="-120"/>
              </a:rPr>
              <a:t>B.TECH FIRST-SEMESTER PROJECT · JAVA PROGRAMMING</a:t>
            </a:r>
            <a:endParaRPr lang="en-US" sz="1050" dirty="0"/>
          </a:p>
        </p:txBody>
      </p:sp>
      <p:sp>
        <p:nvSpPr>
          <p:cNvPr id="4" name="Text 1"/>
          <p:cNvSpPr/>
          <p:nvPr/>
        </p:nvSpPr>
        <p:spPr>
          <a:xfrm>
            <a:off x="714952" y="1172164"/>
            <a:ext cx="6046934" cy="1508720"/>
          </a:xfrm>
          <a:prstGeom prst="rect">
            <a:avLst/>
          </a:prstGeom>
          <a:noFill/>
          <a:ln/>
        </p:spPr>
        <p:txBody>
          <a:bodyPr wrap="square" lIns="0" tIns="0" rIns="0" bIns="0" rtlCol="0" anchor="t">
            <a:normAutofit/>
          </a:bodyPr>
          <a:lstStyle/>
          <a:p>
            <a:pPr marL="0" indent="0" algn="l">
              <a:lnSpc>
                <a:spcPct val="100000"/>
              </a:lnSpc>
              <a:buNone/>
            </a:pPr>
            <a:r>
              <a:rPr lang="en-US" sz="4950" dirty="0">
                <a:solidFill>
                  <a:srgbClr val="F3F6EE"/>
                </a:solidFill>
                <a:latin typeface="Geist Medium" pitchFamily="34" charset="0"/>
                <a:ea typeface="Geist Medium" pitchFamily="34" charset="-122"/>
                <a:cs typeface="Geist Medium" pitchFamily="34" charset="-120"/>
              </a:rPr>
              <a:t>CINEMA SEAT</a:t>
            </a:r>
            <a:endParaRPr lang="en-US" sz="4950" dirty="0"/>
          </a:p>
          <a:p>
            <a:pPr marL="0" indent="0" algn="l">
              <a:lnSpc>
                <a:spcPct val="100000"/>
              </a:lnSpc>
              <a:buNone/>
            </a:pPr>
            <a:r>
              <a:rPr lang="en-US" sz="4950" dirty="0">
                <a:solidFill>
                  <a:srgbClr val="F3F6EE"/>
                </a:solidFill>
                <a:latin typeface="Geist Medium" pitchFamily="34" charset="0"/>
                <a:ea typeface="Geist Medium" pitchFamily="34" charset="-122"/>
                <a:cs typeface="Geist Medium" pitchFamily="34" charset="-120"/>
              </a:rPr>
              <a:t>BOOKING SYSTEM</a:t>
            </a:r>
            <a:endParaRPr lang="en-US" sz="4950" dirty="0"/>
          </a:p>
        </p:txBody>
      </p:sp>
      <p:sp>
        <p:nvSpPr>
          <p:cNvPr id="5" name="Text 2"/>
          <p:cNvSpPr/>
          <p:nvPr/>
        </p:nvSpPr>
        <p:spPr>
          <a:xfrm>
            <a:off x="714952" y="4065872"/>
            <a:ext cx="5999905" cy="722114"/>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D9E4DC"/>
                </a:solidFill>
                <a:latin typeface="Geist Bold" pitchFamily="34" charset="0"/>
                <a:ea typeface="Geist Bold" pitchFamily="34" charset="-122"/>
                <a:cs typeface="Geist Bold" pitchFamily="34" charset="-120"/>
              </a:rPr>
              <a:t>C. Akshitha Reddy – 2620030477</a:t>
            </a:r>
            <a:endParaRPr lang="en-US" sz="1600" dirty="0"/>
          </a:p>
          <a:p>
            <a:pPr marL="0" indent="0" algn="l">
              <a:lnSpc>
                <a:spcPct val="100000"/>
              </a:lnSpc>
              <a:buNone/>
            </a:pPr>
            <a:r>
              <a:rPr lang="en-US" sz="1600" b="1" dirty="0">
                <a:solidFill>
                  <a:srgbClr val="F3F6EE"/>
                </a:solidFill>
                <a:latin typeface="Geist Bold" pitchFamily="34" charset="0"/>
                <a:ea typeface="Geist Bold" pitchFamily="34" charset="-122"/>
                <a:cs typeface="Geist Bold" pitchFamily="34" charset="-120"/>
              </a:rPr>
              <a:t> </a:t>
            </a:r>
            <a:endParaRPr lang="en-US" sz="1600" dirty="0"/>
          </a:p>
          <a:p>
            <a:pPr marL="0" indent="0" algn="l">
              <a:lnSpc>
                <a:spcPct val="100000"/>
              </a:lnSpc>
              <a:buNone/>
            </a:pPr>
            <a:r>
              <a:rPr lang="en-US" sz="1600" b="1" dirty="0">
                <a:solidFill>
                  <a:srgbClr val="D9E4DC"/>
                </a:solidFill>
                <a:latin typeface="Geist Bold" pitchFamily="34" charset="0"/>
                <a:ea typeface="Geist Bold" pitchFamily="34" charset="-122"/>
                <a:cs typeface="Geist Bold" pitchFamily="34" charset="-120"/>
              </a:rPr>
              <a:t>C. Naga Vaishnavi – 2620030490</a:t>
            </a:r>
            <a:endParaRPr lang="en-US" sz="1600" dirty="0"/>
          </a:p>
        </p:txBody>
      </p:sp>
      <p:sp>
        <p:nvSpPr>
          <p:cNvPr id="6" name="Text 3"/>
          <p:cNvSpPr/>
          <p:nvPr/>
        </p:nvSpPr>
        <p:spPr>
          <a:xfrm>
            <a:off x="714952" y="6041827"/>
            <a:ext cx="6476143" cy="159941"/>
          </a:xfrm>
          <a:prstGeom prst="rect">
            <a:avLst/>
          </a:prstGeom>
          <a:noFill/>
          <a:ln/>
        </p:spPr>
        <p:txBody>
          <a:bodyPr wrap="none" lIns="0" tIns="0" rIns="0" bIns="0" rtlCol="0" anchor="t"/>
          <a:lstStyle/>
          <a:p>
            <a:pPr marL="0" indent="0" algn="l">
              <a:lnSpc>
                <a:spcPct val="100000"/>
              </a:lnSpc>
              <a:buNone/>
            </a:pPr>
            <a:r>
              <a:rPr lang="en-US" sz="1050" dirty="0">
                <a:solidFill>
                  <a:srgbClr val="D9E4DC"/>
                </a:solidFill>
                <a:latin typeface="Geist Mono" pitchFamily="34" charset="0"/>
                <a:ea typeface="Geist Mono" pitchFamily="34" charset="-122"/>
                <a:cs typeface="Geist Mono" pitchFamily="34" charset="-120"/>
              </a:rPr>
              <a:t>OBJECT-ORIENTED PROGRAMMING IN JAVA</a:t>
            </a:r>
            <a:endParaRPr lang="en-US" sz="1050" dirty="0"/>
          </a:p>
        </p:txBody>
      </p:sp>
      <p:pic>
        <p:nvPicPr>
          <p:cNvPr id="7" name="Image 1" descr="preencoded.png"/>
          <p:cNvPicPr>
            <a:picLocks noChangeAspect="1"/>
          </p:cNvPicPr>
          <p:nvPr/>
        </p:nvPicPr>
        <p:blipFill>
          <a:blip r:embed="rId4"/>
          <a:stretch>
            <a:fillRect/>
          </a:stretch>
        </p:blipFill>
        <p:spPr>
          <a:xfrm>
            <a:off x="7315414" y="0"/>
            <a:ext cx="4876281"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19170" y="1444228"/>
            <a:ext cx="10972526" cy="200025"/>
          </a:xfrm>
          <a:prstGeom prst="rect">
            <a:avLst/>
          </a:prstGeom>
          <a:noFill/>
          <a:ln/>
        </p:spPr>
        <p:txBody>
          <a:bodyPr wrap="none" lIns="0" tIns="0" rIns="0" bIns="0" rtlCol="0" anchor="t"/>
          <a:lstStyle/>
          <a:p>
            <a:pPr marL="0" indent="0" algn="l">
              <a:lnSpc>
                <a:spcPct val="125000"/>
              </a:lnSpc>
              <a:buNone/>
            </a:pPr>
            <a:r>
              <a:rPr lang="en-US" sz="1050" kern="100" spc="63" dirty="0">
                <a:solidFill>
                  <a:srgbClr val="A9C0B2"/>
                </a:solidFill>
                <a:latin typeface="Geist Mono Medium" pitchFamily="34" charset="0"/>
                <a:ea typeface="Geist Mono Medium" pitchFamily="34" charset="-122"/>
                <a:cs typeface="Geist Mono Medium" pitchFamily="34" charset="-120"/>
              </a:rPr>
              <a:t>PROJECT OVERVIEW</a:t>
            </a:r>
            <a:endParaRPr lang="en-US" sz="1050" dirty="0"/>
          </a:p>
        </p:txBody>
      </p:sp>
      <p:sp>
        <p:nvSpPr>
          <p:cNvPr id="3" name="Text 1"/>
          <p:cNvSpPr/>
          <p:nvPr/>
        </p:nvSpPr>
        <p:spPr>
          <a:xfrm>
            <a:off x="1219170" y="1745266"/>
            <a:ext cx="10515337" cy="492125"/>
          </a:xfrm>
          <a:prstGeom prst="rect">
            <a:avLst/>
          </a:prstGeom>
          <a:noFill/>
          <a:ln/>
        </p:spPr>
        <p:txBody>
          <a:bodyPr wrap="none" lIns="0" tIns="0" rIns="0" bIns="0" rtlCol="0" anchor="t"/>
          <a:lstStyle/>
          <a:p>
            <a:pPr marL="0" indent="0" algn="l">
              <a:lnSpc>
                <a:spcPct val="100000"/>
              </a:lnSpc>
              <a:buNone/>
            </a:pPr>
            <a:r>
              <a:rPr lang="en-US" sz="3250" dirty="0">
                <a:solidFill>
                  <a:srgbClr val="F3F6EE"/>
                </a:solidFill>
                <a:latin typeface="Geist" pitchFamily="34" charset="0"/>
                <a:ea typeface="Geist" pitchFamily="34" charset="-122"/>
                <a:cs typeface="Geist" pitchFamily="34" charset="-120"/>
              </a:rPr>
              <a:t>Problem Statement</a:t>
            </a:r>
            <a:endParaRPr lang="en-US" sz="3250" dirty="0"/>
          </a:p>
        </p:txBody>
      </p:sp>
      <p:sp>
        <p:nvSpPr>
          <p:cNvPr id="4" name="Text 2"/>
          <p:cNvSpPr/>
          <p:nvPr/>
        </p:nvSpPr>
        <p:spPr>
          <a:xfrm>
            <a:off x="1219170" y="3921026"/>
            <a:ext cx="10362941" cy="1746746"/>
          </a:xfrm>
          <a:prstGeom prst="rect">
            <a:avLst/>
          </a:prstGeom>
          <a:noFill/>
          <a:ln/>
        </p:spPr>
        <p:txBody>
          <a:bodyPr wrap="square" lIns="0" tIns="0" rIns="0" bIns="0" rtlCol="0" anchor="t">
            <a:normAutofit/>
          </a:bodyPr>
          <a:lstStyle/>
          <a:p>
            <a:pPr marL="0" indent="0" algn="l">
              <a:lnSpc>
                <a:spcPct val="100000"/>
              </a:lnSpc>
              <a:spcAft>
                <a:spcPts val="1550"/>
              </a:spcAft>
              <a:buNone/>
            </a:pPr>
            <a:r>
              <a:rPr lang="en-US" sz="1450" dirty="0">
                <a:solidFill>
                  <a:srgbClr val="D9E4DC"/>
                </a:solidFill>
                <a:latin typeface="Geist" pitchFamily="34" charset="0"/>
                <a:ea typeface="Geist" pitchFamily="34" charset="-122"/>
                <a:cs typeface="Geist" pitchFamily="34" charset="-120"/>
              </a:rPr>
              <a:t>Traditional cinema seat booking can involve difficulties in selecting movies, choosing show timings, and checking seat availability. Managing these steps manually may be time-consuming and can lead to confusion regarding seat selection and booking details.</a:t>
            </a:r>
            <a:endParaRPr lang="en-US" sz="1450" dirty="0"/>
          </a:p>
          <a:p>
            <a:pPr marL="0" indent="0" algn="l">
              <a:lnSpc>
                <a:spcPct val="100000"/>
              </a:lnSpc>
              <a:buNone/>
            </a:pPr>
            <a:r>
              <a:rPr lang="en-US" sz="1450" dirty="0">
                <a:solidFill>
                  <a:srgbClr val="D9E4DC"/>
                </a:solidFill>
                <a:latin typeface="Geist" pitchFamily="34" charset="0"/>
                <a:ea typeface="Geist" pitchFamily="34" charset="-122"/>
                <a:cs typeface="Geist" pitchFamily="34" charset="-120"/>
              </a:rPr>
              <a:t>Therefore, there is a need for a simple and user-friendly Cinema Seat Booking System that allows users to select a movie, choose a show timing, check seat availability, and manage booking details. This project aims to develop a Java console-based application using conditional statements, loops, arrays, searching, and counting to organize the booking process and improve its accuracy and efficiency.</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5" y="675580"/>
            <a:ext cx="6546686" cy="3288010"/>
          </a:xfrm>
          <a:prstGeom prst="rect">
            <a:avLst/>
          </a:prstGeom>
        </p:spPr>
      </p:pic>
      <p:sp>
        <p:nvSpPr>
          <p:cNvPr id="3" name="Text 0"/>
          <p:cNvSpPr/>
          <p:nvPr/>
        </p:nvSpPr>
        <p:spPr>
          <a:xfrm>
            <a:off x="714952" y="678755"/>
            <a:ext cx="6202604" cy="159941"/>
          </a:xfrm>
          <a:prstGeom prst="rect">
            <a:avLst/>
          </a:prstGeom>
          <a:noFill/>
          <a:ln/>
        </p:spPr>
        <p:txBody>
          <a:bodyPr wrap="none" lIns="0" tIns="0" rIns="0" bIns="0" rtlCol="0" anchor="t"/>
          <a:lstStyle/>
          <a:p>
            <a:pPr marL="0" indent="0" algn="l">
              <a:lnSpc>
                <a:spcPct val="100000"/>
              </a:lnSpc>
              <a:buNone/>
            </a:pPr>
            <a:r>
              <a:rPr lang="en-US" sz="1050" dirty="0">
                <a:solidFill>
                  <a:srgbClr val="A9C0B2"/>
                </a:solidFill>
                <a:latin typeface="Geist Mono Medium" pitchFamily="34" charset="0"/>
                <a:ea typeface="Geist Mono Medium" pitchFamily="34" charset="-122"/>
                <a:cs typeface="Geist Mono Medium" pitchFamily="34" charset="-120"/>
              </a:rPr>
              <a:t>PROJECT OVERVIEW</a:t>
            </a:r>
            <a:endParaRPr lang="en-US" sz="1050" dirty="0"/>
          </a:p>
        </p:txBody>
      </p:sp>
      <p:sp>
        <p:nvSpPr>
          <p:cNvPr id="4" name="Text 1"/>
          <p:cNvSpPr/>
          <p:nvPr/>
        </p:nvSpPr>
        <p:spPr>
          <a:xfrm>
            <a:off x="714952" y="1072365"/>
            <a:ext cx="6202604" cy="492125"/>
          </a:xfrm>
          <a:prstGeom prst="rect">
            <a:avLst/>
          </a:prstGeom>
          <a:noFill/>
          <a:ln/>
        </p:spPr>
        <p:txBody>
          <a:bodyPr wrap="none" lIns="0" tIns="0" rIns="0" bIns="0" rtlCol="0" anchor="t"/>
          <a:lstStyle/>
          <a:p>
            <a:pPr marL="0" indent="0" algn="l">
              <a:lnSpc>
                <a:spcPct val="100000"/>
              </a:lnSpc>
              <a:buNone/>
            </a:pPr>
            <a:r>
              <a:rPr lang="en-US" sz="3250" dirty="0">
                <a:solidFill>
                  <a:srgbClr val="F3F6EE"/>
                </a:solidFill>
                <a:latin typeface="Geist Medium" pitchFamily="34" charset="0"/>
                <a:ea typeface="Geist Medium" pitchFamily="34" charset="-122"/>
                <a:cs typeface="Geist Medium" pitchFamily="34" charset="-120"/>
              </a:rPr>
              <a:t>Introduction</a:t>
            </a:r>
            <a:endParaRPr lang="en-US" sz="3250" dirty="0"/>
          </a:p>
        </p:txBody>
      </p:sp>
      <p:sp>
        <p:nvSpPr>
          <p:cNvPr id="5" name="Text 2"/>
          <p:cNvSpPr/>
          <p:nvPr/>
        </p:nvSpPr>
        <p:spPr>
          <a:xfrm>
            <a:off x="981646" y="1967596"/>
            <a:ext cx="5745416" cy="1005681"/>
          </a:xfrm>
          <a:prstGeom prst="rect">
            <a:avLst/>
          </a:prstGeom>
          <a:noFill/>
          <a:ln/>
        </p:spPr>
        <p:txBody>
          <a:bodyPr wrap="square" lIns="0" tIns="0" rIns="0" bIns="0" rtlCol="0" anchor="t">
            <a:normAutofit/>
          </a:bodyPr>
          <a:lstStyle/>
          <a:p>
            <a:pPr marL="0" indent="0" algn="l">
              <a:lnSpc>
                <a:spcPct val="100000"/>
              </a:lnSpc>
              <a:buNone/>
            </a:pPr>
            <a:r>
              <a:rPr lang="en-US" sz="1650" dirty="0">
                <a:solidFill>
                  <a:srgbClr val="D9E4DC"/>
                </a:solidFill>
                <a:latin typeface="Geist" pitchFamily="34" charset="0"/>
                <a:ea typeface="Geist" pitchFamily="34" charset="-122"/>
                <a:cs typeface="Geist" pitchFamily="34" charset="-120"/>
              </a:rPr>
              <a:t>Our Java console program lets a user choose a movie, location, and theatre, then reserve a numbered seat. It checks availability, displays a bill, and saves confirmed bookings so those seats stay unavailable on the next run.</a:t>
            </a:r>
            <a:endParaRPr lang="en-US" sz="1650" dirty="0"/>
          </a:p>
        </p:txBody>
      </p:sp>
      <p:sp>
        <p:nvSpPr>
          <p:cNvPr id="6" name="Text 3"/>
          <p:cNvSpPr/>
          <p:nvPr/>
        </p:nvSpPr>
        <p:spPr>
          <a:xfrm>
            <a:off x="714952" y="6043369"/>
            <a:ext cx="6441319" cy="149225"/>
          </a:xfrm>
          <a:prstGeom prst="rect">
            <a:avLst/>
          </a:prstGeom>
          <a:noFill/>
          <a:ln/>
        </p:spPr>
        <p:txBody>
          <a:bodyPr wrap="none" lIns="0" tIns="0" rIns="0" bIns="0" rtlCol="0" anchor="t"/>
          <a:lstStyle/>
          <a:p>
            <a:pPr marL="0" indent="0" algn="l">
              <a:lnSpc>
                <a:spcPct val="100000"/>
              </a:lnSpc>
              <a:buNone/>
            </a:pPr>
            <a:r>
              <a:rPr lang="en-US" sz="1000" dirty="0">
                <a:solidFill>
                  <a:srgbClr val="A9C0B2"/>
                </a:solidFill>
                <a:latin typeface="Geist Mono" pitchFamily="34" charset="0"/>
                <a:ea typeface="Geist Mono" pitchFamily="34" charset="-122"/>
                <a:cs typeface="Geist Mono" pitchFamily="34" charset="-120"/>
              </a:rPr>
              <a:t>PROJECT SCOPE · MOVIE, VENUE, SEAT, BILL, FILE</a:t>
            </a:r>
            <a:endParaRPr lang="en-US" sz="1000" dirty="0"/>
          </a:p>
        </p:txBody>
      </p:sp>
      <p:sp>
        <p:nvSpPr>
          <p:cNvPr id="7" name="Text 4"/>
          <p:cNvSpPr/>
          <p:nvPr/>
        </p:nvSpPr>
        <p:spPr>
          <a:xfrm>
            <a:off x="609585" y="6421636"/>
            <a:ext cx="1336046" cy="159941"/>
          </a:xfrm>
          <a:prstGeom prst="rect">
            <a:avLst/>
          </a:prstGeom>
          <a:noFill/>
          <a:ln/>
        </p:spPr>
        <p:txBody>
          <a:bodyPr wrap="none" lIns="0" tIns="0" rIns="0" bIns="0" rtlCol="0" anchor="t"/>
          <a:lstStyle/>
          <a:p>
            <a:pPr marL="0" indent="0" algn="l">
              <a:lnSpc>
                <a:spcPct val="100000"/>
              </a:lnSpc>
              <a:buNone/>
            </a:pPr>
            <a:r>
              <a:rPr lang="en-US" sz="1050" dirty="0">
                <a:solidFill>
                  <a:srgbClr val="A9C0B2"/>
                </a:solidFill>
                <a:latin typeface="Geist Mono" pitchFamily="34" charset="0"/>
                <a:ea typeface="Geist Mono" pitchFamily="34" charset="-122"/>
                <a:cs typeface="Geist Mono" pitchFamily="34" charset="-120"/>
              </a:rPr>
              <a:t>02</a:t>
            </a:r>
            <a:endParaRPr lang="en-US" sz="1050" dirty="0"/>
          </a:p>
        </p:txBody>
      </p:sp>
      <p:pic>
        <p:nvPicPr>
          <p:cNvPr id="8" name="Image 1" descr="preencoded.png"/>
          <p:cNvPicPr>
            <a:picLocks noChangeAspect="1"/>
          </p:cNvPicPr>
          <p:nvPr/>
        </p:nvPicPr>
        <p:blipFill>
          <a:blip r:embed="rId4"/>
          <a:stretch>
            <a:fillRect/>
          </a:stretch>
        </p:blipFill>
        <p:spPr>
          <a:xfrm>
            <a:off x="7315017" y="0"/>
            <a:ext cx="4876678"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19170" y="762000"/>
            <a:ext cx="10972526" cy="200025"/>
          </a:xfrm>
          <a:prstGeom prst="rect">
            <a:avLst/>
          </a:prstGeom>
          <a:noFill/>
          <a:ln/>
        </p:spPr>
        <p:txBody>
          <a:bodyPr wrap="none" lIns="0" tIns="0" rIns="0" bIns="0" rtlCol="0" anchor="t"/>
          <a:lstStyle/>
          <a:p>
            <a:pPr marL="0" indent="0" algn="l">
              <a:lnSpc>
                <a:spcPct val="125000"/>
              </a:lnSpc>
              <a:buNone/>
            </a:pPr>
            <a:r>
              <a:rPr lang="en-US" sz="1050" kern="100" spc="63" dirty="0">
                <a:solidFill>
                  <a:srgbClr val="A9C0B2"/>
                </a:solidFill>
                <a:latin typeface="Geist Mono Medium" pitchFamily="34" charset="0"/>
                <a:ea typeface="Geist Mono Medium" pitchFamily="34" charset="-122"/>
                <a:cs typeface="Geist Mono Medium" pitchFamily="34" charset="-120"/>
              </a:rPr>
              <a:t>MARKET REVIEW</a:t>
            </a:r>
            <a:endParaRPr lang="en-US" sz="1050" dirty="0"/>
          </a:p>
        </p:txBody>
      </p:sp>
      <p:sp>
        <p:nvSpPr>
          <p:cNvPr id="3" name="Text 1"/>
          <p:cNvSpPr/>
          <p:nvPr/>
        </p:nvSpPr>
        <p:spPr>
          <a:xfrm>
            <a:off x="1219170" y="1063038"/>
            <a:ext cx="10362941" cy="492125"/>
          </a:xfrm>
          <a:prstGeom prst="rect">
            <a:avLst/>
          </a:prstGeom>
          <a:noFill/>
          <a:ln/>
        </p:spPr>
        <p:txBody>
          <a:bodyPr wrap="none" lIns="0" tIns="0" rIns="0" bIns="0" rtlCol="0" anchor="t"/>
          <a:lstStyle/>
          <a:p>
            <a:pPr marL="0" indent="0" algn="l">
              <a:lnSpc>
                <a:spcPct val="100000"/>
              </a:lnSpc>
              <a:buNone/>
            </a:pPr>
            <a:r>
              <a:rPr lang="en-US" sz="3250" dirty="0">
                <a:solidFill>
                  <a:srgbClr val="F3F6EE"/>
                </a:solidFill>
                <a:latin typeface="Geist" pitchFamily="34" charset="0"/>
                <a:ea typeface="Geist" pitchFamily="34" charset="-122"/>
                <a:cs typeface="Geist" pitchFamily="34" charset="-120"/>
              </a:rPr>
              <a:t>Existing Applications</a:t>
            </a:r>
            <a:endParaRPr lang="en-US" sz="3250" dirty="0"/>
          </a:p>
        </p:txBody>
      </p:sp>
      <p:sp>
        <p:nvSpPr>
          <p:cNvPr id="4" name="Text 2"/>
          <p:cNvSpPr/>
          <p:nvPr/>
        </p:nvSpPr>
        <p:spPr>
          <a:xfrm>
            <a:off x="1219170" y="1750834"/>
            <a:ext cx="10362941" cy="441920"/>
          </a:xfrm>
          <a:prstGeom prst="rect">
            <a:avLst/>
          </a:prstGeom>
          <a:noFill/>
          <a:ln/>
        </p:spPr>
        <p:txBody>
          <a:bodyPr wrap="square" lIns="0" tIns="0" rIns="0" bIns="0" rtlCol="0" anchor="t">
            <a:normAutofit/>
          </a:bodyPr>
          <a:lstStyle/>
          <a:p>
            <a:pPr marL="0" indent="0" algn="l">
              <a:lnSpc>
                <a:spcPct val="100000"/>
              </a:lnSpc>
              <a:buNone/>
            </a:pPr>
            <a:r>
              <a:rPr lang="en-US" sz="1450" dirty="0">
                <a:solidFill>
                  <a:srgbClr val="D9E4DC"/>
                </a:solidFill>
                <a:latin typeface="Geist" pitchFamily="34" charset="0"/>
                <a:ea typeface="Geist" pitchFamily="34" charset="-122"/>
                <a:cs typeface="Geist" pitchFamily="34" charset="-120"/>
              </a:rPr>
              <a:t>Existing cinema seat booking applications simplify movie ticket reservations by allowing users to choose movies, theatres, showtimes, and seats.</a:t>
            </a:r>
            <a:endParaRPr lang="en-US" sz="1450" dirty="0"/>
          </a:p>
        </p:txBody>
      </p:sp>
      <p:sp>
        <p:nvSpPr>
          <p:cNvPr id="5" name="Text 3"/>
          <p:cNvSpPr/>
          <p:nvPr/>
        </p:nvSpPr>
        <p:spPr>
          <a:xfrm>
            <a:off x="1219170" y="2386112"/>
            <a:ext cx="10362941" cy="2445544"/>
          </a:xfrm>
          <a:prstGeom prst="rect">
            <a:avLst/>
          </a:prstGeom>
          <a:noFill/>
          <a:ln/>
        </p:spPr>
        <p:txBody>
          <a:bodyPr wrap="square" lIns="0" tIns="0" rIns="0" bIns="0" rtlCol="0" anchor="t"/>
          <a:lstStyle/>
          <a:p>
            <a:pPr marL="0" indent="0" algn="l">
              <a:lnSpc>
                <a:spcPct val="100000"/>
              </a:lnSpc>
              <a:spcAft>
                <a:spcPts val="1550"/>
              </a:spcAft>
              <a:buNone/>
            </a:pPr>
            <a:r>
              <a:rPr lang="en-US" sz="1350" dirty="0">
                <a:solidFill>
                  <a:srgbClr val="F3F6EE"/>
                </a:solidFill>
                <a:latin typeface="Geist" pitchFamily="34" charset="0"/>
                <a:ea typeface="Geist" pitchFamily="34" charset="-122"/>
                <a:cs typeface="Geist" pitchFamily="34" charset="-120"/>
              </a:rPr>
              <a:t>BookMyShow: </a:t>
            </a:r>
            <a:r>
              <a:rPr lang="en-US" sz="1350" dirty="0">
                <a:solidFill>
                  <a:srgbClr val="D9E4DC"/>
                </a:solidFill>
                <a:latin typeface="Geist" pitchFamily="34" charset="0"/>
                <a:ea typeface="Geist" pitchFamily="34" charset="-122"/>
                <a:cs typeface="Geist" pitchFamily="34" charset="-120"/>
              </a:rPr>
              <a:t>Provides movie discovery, theatre selection, showtime selection, and online ticket booking.</a:t>
            </a:r>
            <a:endParaRPr lang="en-US" sz="1350" dirty="0"/>
          </a:p>
          <a:p>
            <a:pPr marL="0" indent="0" algn="l">
              <a:lnSpc>
                <a:spcPct val="100000"/>
              </a:lnSpc>
              <a:spcAft>
                <a:spcPts val="1550"/>
              </a:spcAft>
              <a:buNone/>
            </a:pPr>
            <a:r>
              <a:rPr lang="en-US" sz="1350" dirty="0">
                <a:solidFill>
                  <a:srgbClr val="F3F6EE"/>
                </a:solidFill>
                <a:latin typeface="Geist" pitchFamily="34" charset="0"/>
                <a:ea typeface="Geist" pitchFamily="34" charset="-122"/>
                <a:cs typeface="Geist" pitchFamily="34" charset="-120"/>
              </a:rPr>
              <a:t>District: </a:t>
            </a:r>
            <a:r>
              <a:rPr lang="en-US" sz="1350" dirty="0">
                <a:solidFill>
                  <a:srgbClr val="D9E4DC"/>
                </a:solidFill>
                <a:latin typeface="Geist" pitchFamily="34" charset="0"/>
                <a:ea typeface="Geist" pitchFamily="34" charset="-122"/>
                <a:cs typeface="Geist" pitchFamily="34" charset="-120"/>
              </a:rPr>
              <a:t>Facilitates movie ticket bookings and provides booking confirmation.</a:t>
            </a:r>
            <a:endParaRPr lang="en-US" sz="1350" dirty="0"/>
          </a:p>
          <a:p>
            <a:pPr marL="0" indent="0" algn="l">
              <a:lnSpc>
                <a:spcPct val="100000"/>
              </a:lnSpc>
              <a:spcAft>
                <a:spcPts val="1550"/>
              </a:spcAft>
              <a:buNone/>
            </a:pPr>
            <a:r>
              <a:rPr lang="en-US" sz="1350" dirty="0">
                <a:solidFill>
                  <a:srgbClr val="F3F6EE"/>
                </a:solidFill>
                <a:latin typeface="Geist" pitchFamily="34" charset="0"/>
                <a:ea typeface="Geist" pitchFamily="34" charset="-122"/>
                <a:cs typeface="Geist" pitchFamily="34" charset="-120"/>
              </a:rPr>
              <a:t>TicketNew: </a:t>
            </a:r>
            <a:r>
              <a:rPr lang="en-US" sz="1350" dirty="0">
                <a:solidFill>
                  <a:srgbClr val="D9E4DC"/>
                </a:solidFill>
                <a:latin typeface="Geist" pitchFamily="34" charset="0"/>
                <a:ea typeface="Geist" pitchFamily="34" charset="-122"/>
                <a:cs typeface="Geist" pitchFamily="34" charset="-120"/>
              </a:rPr>
              <a:t>Allows users to select theatres, showtimes, and seats and complete online bookings.</a:t>
            </a:r>
            <a:endParaRPr lang="en-US" sz="1350" dirty="0"/>
          </a:p>
          <a:p>
            <a:pPr marL="0" indent="0" algn="l">
              <a:lnSpc>
                <a:spcPct val="100000"/>
              </a:lnSpc>
              <a:spcAft>
                <a:spcPts val="1550"/>
              </a:spcAft>
              <a:buNone/>
            </a:pPr>
            <a:r>
              <a:rPr lang="en-US" sz="1350" dirty="0">
                <a:solidFill>
                  <a:srgbClr val="F3F6EE"/>
                </a:solidFill>
                <a:latin typeface="Geist" pitchFamily="34" charset="0"/>
                <a:ea typeface="Geist" pitchFamily="34" charset="-122"/>
                <a:cs typeface="Geist" pitchFamily="34" charset="-120"/>
              </a:rPr>
              <a:t>Common Features: </a:t>
            </a:r>
            <a:r>
              <a:rPr lang="en-US" sz="1350" dirty="0">
                <a:solidFill>
                  <a:srgbClr val="D9E4DC"/>
                </a:solidFill>
                <a:latin typeface="Geist" pitchFamily="34" charset="0"/>
                <a:ea typeface="Geist" pitchFamily="34" charset="-122"/>
                <a:cs typeface="Geist" pitchFamily="34" charset="-120"/>
              </a:rPr>
              <a:t>Movie and theatre selection; Show timing selection; Seat selection and availability checking; Booking confirmation; Online ticket booking.</a:t>
            </a:r>
            <a:endParaRPr lang="en-US" sz="1350" dirty="0"/>
          </a:p>
          <a:p>
            <a:pPr marL="0" indent="0" algn="l">
              <a:lnSpc>
                <a:spcPct val="100000"/>
              </a:lnSpc>
              <a:buNone/>
            </a:pPr>
            <a:r>
              <a:rPr lang="en-US" sz="1350" dirty="0">
                <a:solidFill>
                  <a:srgbClr val="F3F6EE"/>
                </a:solidFill>
                <a:latin typeface="Geist" pitchFamily="34" charset="0"/>
                <a:ea typeface="Geist" pitchFamily="34" charset="-122"/>
                <a:cs typeface="Geist" pitchFamily="34" charset="-120"/>
              </a:rPr>
              <a:t>Relation to Our Project: </a:t>
            </a:r>
            <a:r>
              <a:rPr lang="en-US" sz="1350" dirty="0">
                <a:solidFill>
                  <a:srgbClr val="D9E4DC"/>
                </a:solidFill>
                <a:latin typeface="Geist" pitchFamily="34" charset="0"/>
                <a:ea typeface="Geist" pitchFamily="34" charset="-122"/>
                <a:cs typeface="Geist" pitchFamily="34" charset="-120"/>
              </a:rPr>
              <a:t>Our Cinema Seat Booking System implements the basic booking workflow in Java using conditional statements, loops, arrays, searching, and counting. It is a simplified academic model of the core booking process, rather than a complete commercial application.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34187" y="0"/>
            <a:ext cx="3657509" cy="6858000"/>
          </a:xfrm>
          <a:prstGeom prst="rect">
            <a:avLst/>
          </a:prstGeom>
        </p:spPr>
      </p:pic>
      <p:sp>
        <p:nvSpPr>
          <p:cNvPr id="3" name="Text 0"/>
          <p:cNvSpPr/>
          <p:nvPr/>
        </p:nvSpPr>
        <p:spPr>
          <a:xfrm>
            <a:off x="609585" y="427831"/>
            <a:ext cx="8229394" cy="200025"/>
          </a:xfrm>
          <a:prstGeom prst="rect">
            <a:avLst/>
          </a:prstGeom>
          <a:noFill/>
          <a:ln/>
        </p:spPr>
        <p:txBody>
          <a:bodyPr wrap="none" lIns="0" tIns="0" rIns="0" bIns="0" rtlCol="0" anchor="t"/>
          <a:lstStyle/>
          <a:p>
            <a:pPr marL="0" indent="0" algn="l">
              <a:lnSpc>
                <a:spcPct val="125000"/>
              </a:lnSpc>
              <a:buNone/>
            </a:pPr>
            <a:r>
              <a:rPr lang="en-US" sz="1050" dirty="0">
                <a:solidFill>
                  <a:srgbClr val="A9C0B2"/>
                </a:solidFill>
                <a:latin typeface="Geist Mono Medium" pitchFamily="34" charset="0"/>
                <a:ea typeface="Geist Mono Medium" pitchFamily="34" charset="-122"/>
                <a:cs typeface="Geist Mono Medium" pitchFamily="34" charset="-120"/>
              </a:rPr>
              <a:t>JAVA FOUNDATIONS</a:t>
            </a:r>
            <a:endParaRPr lang="en-US" sz="1050" dirty="0"/>
          </a:p>
        </p:txBody>
      </p:sp>
      <p:sp>
        <p:nvSpPr>
          <p:cNvPr id="4" name="Text 1"/>
          <p:cNvSpPr/>
          <p:nvPr/>
        </p:nvSpPr>
        <p:spPr>
          <a:xfrm>
            <a:off x="609585" y="642505"/>
            <a:ext cx="7562661" cy="1005681"/>
          </a:xfrm>
          <a:prstGeom prst="rect">
            <a:avLst/>
          </a:prstGeom>
          <a:noFill/>
          <a:ln/>
        </p:spPr>
        <p:txBody>
          <a:bodyPr wrap="square" lIns="0" tIns="0" rIns="0" bIns="0" rtlCol="0" anchor="t">
            <a:normAutofit/>
          </a:bodyPr>
          <a:lstStyle/>
          <a:p>
            <a:pPr marL="0" indent="0" algn="l">
              <a:lnSpc>
                <a:spcPct val="100000"/>
              </a:lnSpc>
              <a:buNone/>
            </a:pPr>
            <a:r>
              <a:rPr lang="en-US" sz="3300" dirty="0">
                <a:solidFill>
                  <a:srgbClr val="F3F6EE"/>
                </a:solidFill>
                <a:latin typeface="Geist" pitchFamily="34" charset="0"/>
                <a:ea typeface="Geist" pitchFamily="34" charset="-122"/>
                <a:cs typeface="Geist" pitchFamily="34" charset="-120"/>
              </a:rPr>
              <a:t>Module 1: Concepts Used in Our Project</a:t>
            </a:r>
            <a:endParaRPr lang="en-US" sz="3300" dirty="0"/>
          </a:p>
        </p:txBody>
      </p:sp>
      <p:sp>
        <p:nvSpPr>
          <p:cNvPr id="5" name="Shape 2"/>
          <p:cNvSpPr/>
          <p:nvPr/>
        </p:nvSpPr>
        <p:spPr>
          <a:xfrm>
            <a:off x="609585" y="1847850"/>
            <a:ext cx="2476438" cy="19050"/>
          </a:xfrm>
          <a:prstGeom prst="roundRect">
            <a:avLst>
              <a:gd name="adj" fmla="val 49999"/>
            </a:avLst>
          </a:prstGeom>
          <a:solidFill>
            <a:srgbClr val="2E5C4C"/>
          </a:solidFill>
          <a:ln/>
        </p:spPr>
      </p:sp>
      <p:sp>
        <p:nvSpPr>
          <p:cNvPr id="6" name="Text 3"/>
          <p:cNvSpPr/>
          <p:nvPr/>
        </p:nvSpPr>
        <p:spPr>
          <a:xfrm>
            <a:off x="609585" y="6419056"/>
            <a:ext cx="1419189" cy="200025"/>
          </a:xfrm>
          <a:prstGeom prst="rect">
            <a:avLst/>
          </a:prstGeom>
          <a:noFill/>
          <a:ln/>
        </p:spPr>
        <p:txBody>
          <a:bodyPr wrap="none" lIns="0" tIns="0" rIns="0" bIns="0" rtlCol="0" anchor="t"/>
          <a:lstStyle/>
          <a:p>
            <a:pPr marL="0" indent="0" algn="l">
              <a:lnSpc>
                <a:spcPct val="125000"/>
              </a:lnSpc>
              <a:buNone/>
            </a:pPr>
            <a:r>
              <a:rPr lang="en-US" sz="1050" dirty="0">
                <a:solidFill>
                  <a:srgbClr val="A9C0B2"/>
                </a:solidFill>
                <a:latin typeface="Geist Mono" pitchFamily="34" charset="0"/>
                <a:ea typeface="Geist Mono" pitchFamily="34" charset="-122"/>
                <a:cs typeface="Geist Mono" pitchFamily="34" charset="-120"/>
              </a:rPr>
              <a:t>03</a:t>
            </a:r>
            <a:endParaRPr lang="en-US" sz="1050" dirty="0"/>
          </a:p>
        </p:txBody>
      </p:sp>
      <p:sp>
        <p:nvSpPr>
          <p:cNvPr id="7" name="Shape 4"/>
          <p:cNvSpPr/>
          <p:nvPr/>
        </p:nvSpPr>
        <p:spPr>
          <a:xfrm>
            <a:off x="609585" y="2057400"/>
            <a:ext cx="3676558" cy="1238250"/>
          </a:xfrm>
          <a:prstGeom prst="roundRect">
            <a:avLst>
              <a:gd name="adj" fmla="val 3692"/>
            </a:avLst>
          </a:prstGeom>
          <a:solidFill>
            <a:srgbClr val="2B5146"/>
          </a:solidFill>
          <a:ln/>
        </p:spPr>
      </p:sp>
      <p:sp>
        <p:nvSpPr>
          <p:cNvPr id="8" name="Text 5"/>
          <p:cNvSpPr/>
          <p:nvPr/>
        </p:nvSpPr>
        <p:spPr>
          <a:xfrm>
            <a:off x="790555" y="2219325"/>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Variables &amp; Data Types</a:t>
            </a:r>
            <a:endParaRPr lang="en-US" sz="1500" dirty="0"/>
          </a:p>
        </p:txBody>
      </p:sp>
      <p:sp>
        <p:nvSpPr>
          <p:cNvPr id="9" name="Text 6"/>
          <p:cNvSpPr/>
          <p:nvPr/>
        </p:nvSpPr>
        <p:spPr>
          <a:xfrm>
            <a:off x="790555" y="2549604"/>
            <a:ext cx="3257469" cy="584895"/>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D9E4DC"/>
                </a:solidFill>
                <a:latin typeface="Geist" pitchFamily="34" charset="0"/>
                <a:ea typeface="Geist" pitchFamily="34" charset="-122"/>
                <a:cs typeface="Geist" pitchFamily="34" charset="-120"/>
              </a:rPr>
              <a:t>Menu and seat numbers use int; ticket and tax amounts use double; seat status uses boolean values.</a:t>
            </a:r>
            <a:endParaRPr lang="en-US" sz="1300" dirty="0"/>
          </a:p>
        </p:txBody>
      </p:sp>
      <p:sp>
        <p:nvSpPr>
          <p:cNvPr id="10" name="Shape 7"/>
          <p:cNvSpPr/>
          <p:nvPr/>
        </p:nvSpPr>
        <p:spPr>
          <a:xfrm>
            <a:off x="4438539" y="2057400"/>
            <a:ext cx="3676558" cy="1238250"/>
          </a:xfrm>
          <a:prstGeom prst="roundRect">
            <a:avLst>
              <a:gd name="adj" fmla="val 3692"/>
            </a:avLst>
          </a:prstGeom>
          <a:solidFill>
            <a:srgbClr val="2B5146"/>
          </a:solidFill>
          <a:ln/>
        </p:spPr>
      </p:sp>
      <p:sp>
        <p:nvSpPr>
          <p:cNvPr id="11" name="Text 8"/>
          <p:cNvSpPr/>
          <p:nvPr/>
        </p:nvSpPr>
        <p:spPr>
          <a:xfrm>
            <a:off x="4619509" y="2219325"/>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Constants &amp; Literals</a:t>
            </a:r>
            <a:endParaRPr lang="en-US" sz="1500" dirty="0"/>
          </a:p>
        </p:txBody>
      </p:sp>
      <p:sp>
        <p:nvSpPr>
          <p:cNvPr id="12" name="Text 9"/>
          <p:cNvSpPr/>
          <p:nvPr/>
        </p:nvSpPr>
        <p:spPr>
          <a:xfrm>
            <a:off x="4619509" y="2545655"/>
            <a:ext cx="3257469" cy="487561"/>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D9E4DC"/>
                </a:solidFill>
                <a:latin typeface="Geist" pitchFamily="34" charset="0"/>
                <a:ea typeface="Geist" pitchFamily="34" charset="-122"/>
                <a:cs typeface="Geist" pitchFamily="34" charset="-120"/>
              </a:rPr>
              <a:t>static final values define 400 seats, the Rs. 350 ticket price, and the 5% tax rate.</a:t>
            </a:r>
            <a:endParaRPr lang="en-US" sz="1300" dirty="0"/>
          </a:p>
        </p:txBody>
      </p:sp>
      <p:sp>
        <p:nvSpPr>
          <p:cNvPr id="13" name="Shape 10"/>
          <p:cNvSpPr/>
          <p:nvPr/>
        </p:nvSpPr>
        <p:spPr>
          <a:xfrm>
            <a:off x="609585" y="3457575"/>
            <a:ext cx="3676558" cy="1238250"/>
          </a:xfrm>
          <a:prstGeom prst="roundRect">
            <a:avLst>
              <a:gd name="adj" fmla="val 3692"/>
            </a:avLst>
          </a:prstGeom>
          <a:solidFill>
            <a:srgbClr val="2B5146"/>
          </a:solidFill>
          <a:ln/>
        </p:spPr>
      </p:sp>
      <p:sp>
        <p:nvSpPr>
          <p:cNvPr id="14" name="Text 11"/>
          <p:cNvSpPr/>
          <p:nvPr/>
        </p:nvSpPr>
        <p:spPr>
          <a:xfrm>
            <a:off x="790555" y="3619500"/>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Operators &amp; Expressions</a:t>
            </a:r>
            <a:endParaRPr lang="en-US" sz="1500" dirty="0"/>
          </a:p>
        </p:txBody>
      </p:sp>
      <p:sp>
        <p:nvSpPr>
          <p:cNvPr id="15" name="Text 12"/>
          <p:cNvSpPr/>
          <p:nvPr/>
        </p:nvSpPr>
        <p:spPr>
          <a:xfrm>
            <a:off x="790555" y="3949779"/>
            <a:ext cx="3257469" cy="584895"/>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D9E4DC"/>
                </a:solidFill>
                <a:latin typeface="Geist" pitchFamily="34" charset="0"/>
                <a:ea typeface="Geist" pitchFamily="34" charset="-122"/>
                <a:cs typeface="Geist" pitchFamily="34" charset="-120"/>
              </a:rPr>
              <a:t>Arithmetic calculates tax and total; comparisons and logical checks validate choices and seat availability.</a:t>
            </a:r>
            <a:endParaRPr lang="en-US" sz="1300" dirty="0"/>
          </a:p>
        </p:txBody>
      </p:sp>
      <p:sp>
        <p:nvSpPr>
          <p:cNvPr id="16" name="Shape 13"/>
          <p:cNvSpPr/>
          <p:nvPr/>
        </p:nvSpPr>
        <p:spPr>
          <a:xfrm>
            <a:off x="4438539" y="3457575"/>
            <a:ext cx="3676558" cy="1238250"/>
          </a:xfrm>
          <a:prstGeom prst="roundRect">
            <a:avLst>
              <a:gd name="adj" fmla="val 3692"/>
            </a:avLst>
          </a:prstGeom>
          <a:solidFill>
            <a:srgbClr val="2B5146"/>
          </a:solidFill>
          <a:ln/>
        </p:spPr>
      </p:sp>
      <p:sp>
        <p:nvSpPr>
          <p:cNvPr id="17" name="Text 14"/>
          <p:cNvSpPr/>
          <p:nvPr/>
        </p:nvSpPr>
        <p:spPr>
          <a:xfrm>
            <a:off x="4619509" y="3619500"/>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Console Input</a:t>
            </a:r>
            <a:endParaRPr lang="en-US" sz="1500" dirty="0"/>
          </a:p>
        </p:txBody>
      </p:sp>
      <p:sp>
        <p:nvSpPr>
          <p:cNvPr id="18" name="Text 15"/>
          <p:cNvSpPr/>
          <p:nvPr/>
        </p:nvSpPr>
        <p:spPr>
          <a:xfrm>
            <a:off x="4619509" y="3945830"/>
            <a:ext cx="3314617" cy="487561"/>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D9E4DC"/>
                </a:solidFill>
                <a:latin typeface="Geist" pitchFamily="34" charset="0"/>
                <a:ea typeface="Geist" pitchFamily="34" charset="-122"/>
                <a:cs typeface="Geist" pitchFamily="34" charset="-120"/>
              </a:rPr>
              <a:t>Scanner reads movie, location, theatre, seat, and confirmation choices.</a:t>
            </a:r>
            <a:endParaRPr lang="en-US" sz="1300" dirty="0"/>
          </a:p>
        </p:txBody>
      </p:sp>
      <p:sp>
        <p:nvSpPr>
          <p:cNvPr id="22" name="Shape 19"/>
          <p:cNvSpPr/>
          <p:nvPr/>
        </p:nvSpPr>
        <p:spPr>
          <a:xfrm>
            <a:off x="2475053" y="4887119"/>
            <a:ext cx="3676558" cy="1238250"/>
          </a:xfrm>
          <a:prstGeom prst="roundRect">
            <a:avLst>
              <a:gd name="adj" fmla="val 3692"/>
            </a:avLst>
          </a:prstGeom>
          <a:solidFill>
            <a:srgbClr val="2B5146"/>
          </a:solidFill>
          <a:ln/>
        </p:spPr>
      </p:sp>
      <p:sp>
        <p:nvSpPr>
          <p:cNvPr id="23" name="Text 20"/>
          <p:cNvSpPr/>
          <p:nvPr/>
        </p:nvSpPr>
        <p:spPr>
          <a:xfrm>
            <a:off x="2752656" y="5098969"/>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Formatted Output</a:t>
            </a:r>
            <a:endParaRPr lang="en-US" sz="1500" dirty="0"/>
          </a:p>
        </p:txBody>
      </p:sp>
      <p:sp>
        <p:nvSpPr>
          <p:cNvPr id="24" name="Text 21"/>
          <p:cNvSpPr/>
          <p:nvPr/>
        </p:nvSpPr>
        <p:spPr>
          <a:xfrm>
            <a:off x="2752656" y="5439826"/>
            <a:ext cx="3257469" cy="487561"/>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D9E4DC"/>
                </a:solidFill>
                <a:latin typeface="Geist" pitchFamily="34" charset="0"/>
                <a:ea typeface="Geist" pitchFamily="34" charset="-122"/>
                <a:cs typeface="Geist" pitchFamily="34" charset="-120"/>
              </a:rPr>
              <a:t>printf displays ticket price, tax, and total with two decimal places.</a:t>
            </a:r>
            <a:endParaRPr lang="en-US" sz="1300" dirty="0"/>
          </a:p>
        </p:txBody>
      </p:sp>
      <p:sp>
        <p:nvSpPr>
          <p:cNvPr id="25" name="Text 22"/>
          <p:cNvSpPr/>
          <p:nvPr/>
        </p:nvSpPr>
        <p:spPr>
          <a:xfrm>
            <a:off x="1523962" y="6423223"/>
            <a:ext cx="7086423" cy="171450"/>
          </a:xfrm>
          <a:prstGeom prst="rect">
            <a:avLst/>
          </a:prstGeom>
          <a:noFill/>
          <a:ln/>
        </p:spPr>
        <p:txBody>
          <a:bodyPr wrap="none" lIns="0" tIns="0" rIns="0" bIns="0" rtlCol="0" anchor="t"/>
          <a:lstStyle/>
          <a:p>
            <a:pPr marL="0" indent="0" algn="l">
              <a:lnSpc>
                <a:spcPct val="125000"/>
              </a:lnSpc>
              <a:buNone/>
            </a:pPr>
            <a:r>
              <a:rPr lang="en-US" sz="900" dirty="0">
                <a:solidFill>
                  <a:srgbClr val="A9C0B2"/>
                </a:solidFill>
                <a:latin typeface="Geist Mono" pitchFamily="34" charset="0"/>
                <a:ea typeface="Geist Mono" pitchFamily="34" charset="-122"/>
                <a:cs typeface="Geist Mono" pitchFamily="34" charset="-120"/>
              </a:rPr>
              <a:t>JAVA CONSOLE BOOKING PROJECT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8534187" y="0"/>
            <a:ext cx="3657509" cy="6858000"/>
          </a:xfrm>
          <a:prstGeom prst="rect">
            <a:avLst/>
          </a:prstGeom>
          <a:solidFill>
            <a:srgbClr val="102E26"/>
          </a:solidFill>
          <a:ln/>
        </p:spPr>
      </p:sp>
      <p:sp>
        <p:nvSpPr>
          <p:cNvPr id="3" name="Text 1"/>
          <p:cNvSpPr/>
          <p:nvPr/>
        </p:nvSpPr>
        <p:spPr>
          <a:xfrm>
            <a:off x="8877078" y="809030"/>
            <a:ext cx="3314617" cy="329505"/>
          </a:xfrm>
          <a:prstGeom prst="rect">
            <a:avLst/>
          </a:prstGeom>
          <a:noFill/>
          <a:ln/>
        </p:spPr>
        <p:txBody>
          <a:bodyPr wrap="none" lIns="0" tIns="0" rIns="0" bIns="0" rtlCol="0" anchor="t"/>
          <a:lstStyle/>
          <a:p>
            <a:pPr marL="0" indent="0" algn="l">
              <a:lnSpc>
                <a:spcPct val="125000"/>
              </a:lnSpc>
              <a:buNone/>
            </a:pPr>
            <a:r>
              <a:rPr lang="en-US" sz="1750" dirty="0">
                <a:solidFill>
                  <a:srgbClr val="F3F6EE"/>
                </a:solidFill>
                <a:latin typeface="Geist Medium" pitchFamily="34" charset="0"/>
                <a:ea typeface="Geist Medium" pitchFamily="34" charset="-122"/>
                <a:cs typeface="Geist Medium" pitchFamily="34" charset="-120"/>
              </a:rPr>
              <a:t>INPUT VALIDATION</a:t>
            </a:r>
            <a:endParaRPr lang="en-US" sz="1750" dirty="0"/>
          </a:p>
        </p:txBody>
      </p:sp>
      <p:sp>
        <p:nvSpPr>
          <p:cNvPr id="4" name="Text 2"/>
          <p:cNvSpPr/>
          <p:nvPr/>
        </p:nvSpPr>
        <p:spPr>
          <a:xfrm>
            <a:off x="8877078" y="1395214"/>
            <a:ext cx="3314617" cy="228600"/>
          </a:xfrm>
          <a:prstGeom prst="rect">
            <a:avLst/>
          </a:prstGeom>
          <a:noFill/>
          <a:ln/>
        </p:spPr>
        <p:txBody>
          <a:bodyPr wrap="none" lIns="0" tIns="0" rIns="0" bIns="0" rtlCol="0" anchor="t"/>
          <a:lstStyle/>
          <a:p>
            <a:pPr marL="0" indent="0" algn="l">
              <a:lnSpc>
                <a:spcPct val="125000"/>
              </a:lnSpc>
              <a:buNone/>
            </a:pPr>
            <a:r>
              <a:rPr lang="en-US" sz="1200" dirty="0">
                <a:solidFill>
                  <a:srgbClr val="A9C0B2"/>
                </a:solidFill>
                <a:latin typeface="Geist" pitchFamily="34" charset="0"/>
                <a:ea typeface="Geist" pitchFamily="34" charset="-122"/>
                <a:cs typeface="Geist" pitchFamily="34" charset="-120"/>
              </a:rPr>
              <a:t>The program retries invalid entries.</a:t>
            </a:r>
            <a:endParaRPr lang="en-US" sz="1200" dirty="0"/>
          </a:p>
        </p:txBody>
      </p:sp>
      <p:sp>
        <p:nvSpPr>
          <p:cNvPr id="5" name="Shape 3"/>
          <p:cNvSpPr/>
          <p:nvPr/>
        </p:nvSpPr>
        <p:spPr>
          <a:xfrm>
            <a:off x="8877078" y="2143125"/>
            <a:ext cx="2857429" cy="609600"/>
          </a:xfrm>
          <a:prstGeom prst="roundRect">
            <a:avLst>
              <a:gd name="adj" fmla="val 7500"/>
            </a:avLst>
          </a:prstGeom>
          <a:solidFill>
            <a:srgbClr val="2B5146"/>
          </a:solidFill>
          <a:ln/>
        </p:spPr>
      </p:sp>
      <p:sp>
        <p:nvSpPr>
          <p:cNvPr id="6" name="Text 4"/>
          <p:cNvSpPr/>
          <p:nvPr/>
        </p:nvSpPr>
        <p:spPr>
          <a:xfrm>
            <a:off x="8724682" y="2324695"/>
            <a:ext cx="3162221" cy="243780"/>
          </a:xfrm>
          <a:prstGeom prst="rect">
            <a:avLst/>
          </a:prstGeom>
          <a:noFill/>
          <a:ln/>
        </p:spPr>
        <p:txBody>
          <a:bodyPr wrap="none" lIns="0" tIns="0" rIns="0" bIns="0" rtlCol="0" anchor="t"/>
          <a:lstStyle/>
          <a:p>
            <a:pPr marL="0" indent="0" algn="ctr">
              <a:lnSpc>
                <a:spcPct val="125000"/>
              </a:lnSpc>
              <a:buNone/>
            </a:pPr>
            <a:r>
              <a:rPr lang="en-US" sz="1300" dirty="0">
                <a:solidFill>
                  <a:srgbClr val="F3F6EE"/>
                </a:solidFill>
                <a:latin typeface="Geist" pitchFamily="34" charset="0"/>
                <a:ea typeface="Geist" pitchFamily="34" charset="-122"/>
                <a:cs typeface="Geist" pitchFamily="34" charset="-120"/>
              </a:rPr>
              <a:t>Read the user's choice</a:t>
            </a:r>
            <a:endParaRPr lang="en-US" sz="1300" dirty="0"/>
          </a:p>
        </p:txBody>
      </p:sp>
      <p:sp>
        <p:nvSpPr>
          <p:cNvPr id="7" name="Text 5"/>
          <p:cNvSpPr/>
          <p:nvPr/>
        </p:nvSpPr>
        <p:spPr>
          <a:xfrm>
            <a:off x="9410465" y="2781300"/>
            <a:ext cx="1752556" cy="342900"/>
          </a:xfrm>
          <a:prstGeom prst="rect">
            <a:avLst/>
          </a:prstGeom>
          <a:noFill/>
          <a:ln/>
        </p:spPr>
        <p:txBody>
          <a:bodyPr wrap="none" lIns="0" tIns="0" rIns="0" bIns="0" rtlCol="0" anchor="t"/>
          <a:lstStyle/>
          <a:p>
            <a:pPr marL="0" indent="0" algn="ctr">
              <a:lnSpc>
                <a:spcPct val="125000"/>
              </a:lnSpc>
              <a:buNone/>
            </a:pPr>
            <a:r>
              <a:rPr lang="en-US" sz="1800" dirty="0">
                <a:solidFill>
                  <a:srgbClr val="C9E265"/>
                </a:solidFill>
                <a:latin typeface="Geist" pitchFamily="34" charset="0"/>
                <a:ea typeface="Geist" pitchFamily="34" charset="-122"/>
                <a:cs typeface="Geist" pitchFamily="34" charset="-120"/>
              </a:rPr>
              <a:t>↓</a:t>
            </a:r>
            <a:endParaRPr lang="en-US" sz="1800" dirty="0"/>
          </a:p>
        </p:txBody>
      </p:sp>
      <p:sp>
        <p:nvSpPr>
          <p:cNvPr id="8" name="Shape 6"/>
          <p:cNvSpPr/>
          <p:nvPr/>
        </p:nvSpPr>
        <p:spPr>
          <a:xfrm>
            <a:off x="8877078" y="3105150"/>
            <a:ext cx="2857429" cy="666750"/>
          </a:xfrm>
          <a:prstGeom prst="roundRect">
            <a:avLst>
              <a:gd name="adj" fmla="val 6857"/>
            </a:avLst>
          </a:prstGeom>
          <a:solidFill>
            <a:srgbClr val="2B5146"/>
          </a:solidFill>
          <a:ln/>
        </p:spPr>
      </p:sp>
      <p:sp>
        <p:nvSpPr>
          <p:cNvPr id="9" name="Text 7"/>
          <p:cNvSpPr/>
          <p:nvPr/>
        </p:nvSpPr>
        <p:spPr>
          <a:xfrm>
            <a:off x="8724682" y="3315295"/>
            <a:ext cx="3162221" cy="243780"/>
          </a:xfrm>
          <a:prstGeom prst="rect">
            <a:avLst/>
          </a:prstGeom>
          <a:noFill/>
          <a:ln/>
        </p:spPr>
        <p:txBody>
          <a:bodyPr wrap="none" lIns="0" tIns="0" rIns="0" bIns="0" rtlCol="0" anchor="t"/>
          <a:lstStyle/>
          <a:p>
            <a:pPr marL="0" indent="0" algn="ctr">
              <a:lnSpc>
                <a:spcPct val="125000"/>
              </a:lnSpc>
              <a:buNone/>
            </a:pPr>
            <a:r>
              <a:rPr lang="en-US" sz="1300" dirty="0">
                <a:solidFill>
                  <a:srgbClr val="F3F6EE"/>
                </a:solidFill>
                <a:latin typeface="Geist" pitchFamily="34" charset="0"/>
                <a:ea typeface="Geist" pitchFamily="34" charset="-122"/>
                <a:cs typeface="Geist" pitchFamily="34" charset="-120"/>
              </a:rPr>
              <a:t>Parse text and check its range</a:t>
            </a:r>
            <a:endParaRPr lang="en-US" sz="1300" dirty="0"/>
          </a:p>
        </p:txBody>
      </p:sp>
      <p:sp>
        <p:nvSpPr>
          <p:cNvPr id="10" name="Text 8"/>
          <p:cNvSpPr/>
          <p:nvPr/>
        </p:nvSpPr>
        <p:spPr>
          <a:xfrm>
            <a:off x="9410465" y="3810000"/>
            <a:ext cx="1752556" cy="342900"/>
          </a:xfrm>
          <a:prstGeom prst="rect">
            <a:avLst/>
          </a:prstGeom>
          <a:noFill/>
          <a:ln/>
        </p:spPr>
        <p:txBody>
          <a:bodyPr wrap="none" lIns="0" tIns="0" rIns="0" bIns="0" rtlCol="0" anchor="t"/>
          <a:lstStyle/>
          <a:p>
            <a:pPr marL="0" indent="0" algn="ctr">
              <a:lnSpc>
                <a:spcPct val="125000"/>
              </a:lnSpc>
              <a:buNone/>
            </a:pPr>
            <a:r>
              <a:rPr lang="en-US" sz="1800" dirty="0">
                <a:solidFill>
                  <a:srgbClr val="C9E265"/>
                </a:solidFill>
                <a:latin typeface="Geist" pitchFamily="34" charset="0"/>
                <a:ea typeface="Geist" pitchFamily="34" charset="-122"/>
                <a:cs typeface="Geist" pitchFamily="34" charset="-120"/>
              </a:rPr>
              <a:t>↓</a:t>
            </a:r>
            <a:endParaRPr lang="en-US" sz="1800" dirty="0"/>
          </a:p>
        </p:txBody>
      </p:sp>
      <p:sp>
        <p:nvSpPr>
          <p:cNvPr id="11" name="Shape 9"/>
          <p:cNvSpPr/>
          <p:nvPr/>
        </p:nvSpPr>
        <p:spPr>
          <a:xfrm>
            <a:off x="8877078" y="4171950"/>
            <a:ext cx="2857429" cy="762000"/>
          </a:xfrm>
          <a:prstGeom prst="roundRect">
            <a:avLst>
              <a:gd name="adj" fmla="val 6000"/>
            </a:avLst>
          </a:prstGeom>
          <a:solidFill>
            <a:srgbClr val="2B5146"/>
          </a:solidFill>
          <a:ln/>
        </p:spPr>
      </p:sp>
      <p:sp>
        <p:nvSpPr>
          <p:cNvPr id="12" name="Text 10"/>
          <p:cNvSpPr/>
          <p:nvPr/>
        </p:nvSpPr>
        <p:spPr>
          <a:xfrm>
            <a:off x="9029474" y="4332585"/>
            <a:ext cx="2552636" cy="487561"/>
          </a:xfrm>
          <a:prstGeom prst="rect">
            <a:avLst/>
          </a:prstGeom>
          <a:noFill/>
          <a:ln/>
        </p:spPr>
        <p:txBody>
          <a:bodyPr wrap="square" lIns="0" tIns="0" rIns="0" bIns="0" rtlCol="0" anchor="t">
            <a:normAutofit/>
          </a:bodyPr>
          <a:lstStyle/>
          <a:p>
            <a:pPr marL="0" indent="0" algn="ctr">
              <a:lnSpc>
                <a:spcPct val="125000"/>
              </a:lnSpc>
              <a:buNone/>
            </a:pPr>
            <a:r>
              <a:rPr lang="en-US" sz="1300" dirty="0">
                <a:solidFill>
                  <a:srgbClr val="F3F6EE"/>
                </a:solidFill>
                <a:latin typeface="Geist" pitchFamily="34" charset="0"/>
                <a:ea typeface="Geist" pitchFamily="34" charset="-122"/>
                <a:cs typeface="Geist" pitchFamily="34" charset="-120"/>
              </a:rPr>
              <a:t>Valid? Continue · Invalid? Ask again</a:t>
            </a:r>
            <a:endParaRPr lang="en-US" sz="1300" dirty="0"/>
          </a:p>
        </p:txBody>
      </p:sp>
      <p:sp>
        <p:nvSpPr>
          <p:cNvPr id="13" name="Text 11"/>
          <p:cNvSpPr/>
          <p:nvPr/>
        </p:nvSpPr>
        <p:spPr>
          <a:xfrm>
            <a:off x="609585" y="427831"/>
            <a:ext cx="8229394" cy="200025"/>
          </a:xfrm>
          <a:prstGeom prst="rect">
            <a:avLst/>
          </a:prstGeom>
          <a:noFill/>
          <a:ln/>
        </p:spPr>
        <p:txBody>
          <a:bodyPr wrap="none" lIns="0" tIns="0" rIns="0" bIns="0" rtlCol="0" anchor="t"/>
          <a:lstStyle/>
          <a:p>
            <a:pPr marL="0" indent="0" algn="l">
              <a:lnSpc>
                <a:spcPct val="125000"/>
              </a:lnSpc>
              <a:buNone/>
            </a:pPr>
            <a:r>
              <a:rPr lang="en-US" sz="1050" dirty="0">
                <a:solidFill>
                  <a:srgbClr val="A9C0B2"/>
                </a:solidFill>
                <a:latin typeface="Geist Mono Medium" pitchFamily="34" charset="0"/>
                <a:ea typeface="Geist Mono Medium" pitchFamily="34" charset="-122"/>
                <a:cs typeface="Geist Mono Medium" pitchFamily="34" charset="-120"/>
              </a:rPr>
              <a:t>CONTROL FLOW &amp; LOGIC</a:t>
            </a:r>
            <a:endParaRPr lang="en-US" sz="1050" dirty="0"/>
          </a:p>
        </p:txBody>
      </p:sp>
      <p:sp>
        <p:nvSpPr>
          <p:cNvPr id="14" name="Text 12"/>
          <p:cNvSpPr/>
          <p:nvPr/>
        </p:nvSpPr>
        <p:spPr>
          <a:xfrm>
            <a:off x="609585" y="642505"/>
            <a:ext cx="7562661" cy="1005681"/>
          </a:xfrm>
          <a:prstGeom prst="rect">
            <a:avLst/>
          </a:prstGeom>
          <a:noFill/>
          <a:ln/>
        </p:spPr>
        <p:txBody>
          <a:bodyPr wrap="square" lIns="0" tIns="0" rIns="0" bIns="0" rtlCol="0" anchor="t">
            <a:normAutofit/>
          </a:bodyPr>
          <a:lstStyle/>
          <a:p>
            <a:pPr marL="0" indent="0" algn="l">
              <a:lnSpc>
                <a:spcPct val="100000"/>
              </a:lnSpc>
              <a:buNone/>
            </a:pPr>
            <a:r>
              <a:rPr lang="en-US" sz="3300" dirty="0">
                <a:solidFill>
                  <a:srgbClr val="F3F6EE"/>
                </a:solidFill>
                <a:latin typeface="Geist" pitchFamily="34" charset="0"/>
                <a:ea typeface="Geist" pitchFamily="34" charset="-122"/>
                <a:cs typeface="Geist" pitchFamily="34" charset="-120"/>
              </a:rPr>
              <a:t>Module 2: Concepts Used in Our Project</a:t>
            </a:r>
            <a:endParaRPr lang="en-US" sz="3300" dirty="0"/>
          </a:p>
        </p:txBody>
      </p:sp>
      <p:sp>
        <p:nvSpPr>
          <p:cNvPr id="15" name="Shape 13"/>
          <p:cNvSpPr/>
          <p:nvPr/>
        </p:nvSpPr>
        <p:spPr>
          <a:xfrm>
            <a:off x="609585" y="1847850"/>
            <a:ext cx="2476438" cy="19050"/>
          </a:xfrm>
          <a:prstGeom prst="roundRect">
            <a:avLst>
              <a:gd name="adj" fmla="val 49999"/>
            </a:avLst>
          </a:prstGeom>
          <a:solidFill>
            <a:srgbClr val="2E5C4C"/>
          </a:solidFill>
          <a:ln/>
        </p:spPr>
      </p:sp>
      <p:sp>
        <p:nvSpPr>
          <p:cNvPr id="16" name="Text 14"/>
          <p:cNvSpPr/>
          <p:nvPr/>
        </p:nvSpPr>
        <p:spPr>
          <a:xfrm>
            <a:off x="609585" y="6419056"/>
            <a:ext cx="1419189" cy="200025"/>
          </a:xfrm>
          <a:prstGeom prst="rect">
            <a:avLst/>
          </a:prstGeom>
          <a:noFill/>
          <a:ln/>
        </p:spPr>
        <p:txBody>
          <a:bodyPr wrap="none" lIns="0" tIns="0" rIns="0" bIns="0" rtlCol="0" anchor="t"/>
          <a:lstStyle/>
          <a:p>
            <a:pPr marL="0" indent="0" algn="l">
              <a:lnSpc>
                <a:spcPct val="125000"/>
              </a:lnSpc>
              <a:buNone/>
            </a:pPr>
            <a:r>
              <a:rPr lang="en-US" sz="1050" dirty="0">
                <a:solidFill>
                  <a:srgbClr val="A9C0B2"/>
                </a:solidFill>
                <a:latin typeface="Geist Mono" pitchFamily="34" charset="0"/>
                <a:ea typeface="Geist Mono" pitchFamily="34" charset="-122"/>
                <a:cs typeface="Geist Mono" pitchFamily="34" charset="-120"/>
              </a:rPr>
              <a:t>04</a:t>
            </a:r>
            <a:endParaRPr lang="en-US" sz="1050" dirty="0"/>
          </a:p>
        </p:txBody>
      </p:sp>
      <p:sp>
        <p:nvSpPr>
          <p:cNvPr id="17" name="Shape 15"/>
          <p:cNvSpPr/>
          <p:nvPr/>
        </p:nvSpPr>
        <p:spPr>
          <a:xfrm>
            <a:off x="609585" y="2057400"/>
            <a:ext cx="3676558" cy="1238250"/>
          </a:xfrm>
          <a:prstGeom prst="roundRect">
            <a:avLst>
              <a:gd name="adj" fmla="val 3692"/>
            </a:avLst>
          </a:prstGeom>
          <a:solidFill>
            <a:srgbClr val="2B5146"/>
          </a:solidFill>
          <a:ln/>
        </p:spPr>
      </p:sp>
      <p:sp>
        <p:nvSpPr>
          <p:cNvPr id="18" name="Text 16"/>
          <p:cNvSpPr/>
          <p:nvPr/>
        </p:nvSpPr>
        <p:spPr>
          <a:xfrm>
            <a:off x="790555" y="2219325"/>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Selection</a:t>
            </a:r>
            <a:endParaRPr lang="en-US" sz="1500" dirty="0"/>
          </a:p>
        </p:txBody>
      </p:sp>
      <p:sp>
        <p:nvSpPr>
          <p:cNvPr id="19" name="Text 17"/>
          <p:cNvSpPr/>
          <p:nvPr/>
        </p:nvSpPr>
        <p:spPr>
          <a:xfrm>
            <a:off x="790555" y="2545655"/>
            <a:ext cx="3257469" cy="487561"/>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D9E4DC"/>
                </a:solidFill>
                <a:latin typeface="Geist" pitchFamily="34" charset="0"/>
                <a:ea typeface="Geist" pitchFamily="34" charset="-122"/>
                <a:cs typeface="Geist" pitchFamily="34" charset="-120"/>
              </a:rPr>
              <a:t>if checks input ranges, seat availability, and whether the user confirms or cancels.</a:t>
            </a:r>
            <a:endParaRPr lang="en-US" sz="1300" dirty="0"/>
          </a:p>
        </p:txBody>
      </p:sp>
      <p:sp>
        <p:nvSpPr>
          <p:cNvPr id="20" name="Shape 18"/>
          <p:cNvSpPr/>
          <p:nvPr/>
        </p:nvSpPr>
        <p:spPr>
          <a:xfrm>
            <a:off x="4438539" y="2057400"/>
            <a:ext cx="3676558" cy="1238250"/>
          </a:xfrm>
          <a:prstGeom prst="roundRect">
            <a:avLst>
              <a:gd name="adj" fmla="val 3692"/>
            </a:avLst>
          </a:prstGeom>
          <a:solidFill>
            <a:srgbClr val="2B5146"/>
          </a:solidFill>
          <a:ln/>
        </p:spPr>
      </p:sp>
      <p:sp>
        <p:nvSpPr>
          <p:cNvPr id="21" name="Text 19"/>
          <p:cNvSpPr/>
          <p:nvPr/>
        </p:nvSpPr>
        <p:spPr>
          <a:xfrm>
            <a:off x="4619509" y="2219325"/>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if-else-if</a:t>
            </a:r>
            <a:endParaRPr lang="en-US" sz="1500" dirty="0"/>
          </a:p>
        </p:txBody>
      </p:sp>
      <p:sp>
        <p:nvSpPr>
          <p:cNvPr id="22" name="Text 20"/>
          <p:cNvSpPr/>
          <p:nvPr/>
        </p:nvSpPr>
        <p:spPr>
          <a:xfrm>
            <a:off x="4619509" y="2545655"/>
            <a:ext cx="3257469" cy="487561"/>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D9E4DC"/>
                </a:solidFill>
                <a:latin typeface="Geist" pitchFamily="34" charset="0"/>
                <a:ea typeface="Geist" pitchFamily="34" charset="-122"/>
                <a:cs typeface="Geist" pitchFamily="34" charset="-120"/>
              </a:rPr>
              <a:t>The confirmation method handles yes, no, and other responses separately.</a:t>
            </a:r>
            <a:endParaRPr lang="en-US" sz="1300" dirty="0"/>
          </a:p>
        </p:txBody>
      </p:sp>
      <p:sp>
        <p:nvSpPr>
          <p:cNvPr id="23" name="Shape 21"/>
          <p:cNvSpPr/>
          <p:nvPr/>
        </p:nvSpPr>
        <p:spPr>
          <a:xfrm>
            <a:off x="609585" y="3457575"/>
            <a:ext cx="3676558" cy="1238250"/>
          </a:xfrm>
          <a:prstGeom prst="roundRect">
            <a:avLst>
              <a:gd name="adj" fmla="val 3692"/>
            </a:avLst>
          </a:prstGeom>
          <a:solidFill>
            <a:srgbClr val="2B5146"/>
          </a:solidFill>
          <a:ln/>
        </p:spPr>
      </p:sp>
      <p:sp>
        <p:nvSpPr>
          <p:cNvPr id="24" name="Text 22"/>
          <p:cNvSpPr/>
          <p:nvPr/>
        </p:nvSpPr>
        <p:spPr>
          <a:xfrm>
            <a:off x="790555" y="3619500"/>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while Loop</a:t>
            </a:r>
            <a:endParaRPr lang="en-US" sz="1500" dirty="0"/>
          </a:p>
        </p:txBody>
      </p:sp>
      <p:sp>
        <p:nvSpPr>
          <p:cNvPr id="25" name="Text 23"/>
          <p:cNvSpPr/>
          <p:nvPr/>
        </p:nvSpPr>
        <p:spPr>
          <a:xfrm>
            <a:off x="790555" y="3949779"/>
            <a:ext cx="3257469" cy="584895"/>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D9E4DC"/>
                </a:solidFill>
                <a:latin typeface="Geist" pitchFamily="34" charset="0"/>
                <a:ea typeface="Geist" pitchFamily="34" charset="-122"/>
                <a:cs typeface="Geist" pitchFamily="34" charset="-120"/>
              </a:rPr>
              <a:t>Menu input repeats until the user enters a valid number; confirmation repeats until yes or no.</a:t>
            </a:r>
            <a:endParaRPr lang="en-US" sz="1300" dirty="0"/>
          </a:p>
        </p:txBody>
      </p:sp>
      <p:sp>
        <p:nvSpPr>
          <p:cNvPr id="26" name="Shape 24"/>
          <p:cNvSpPr/>
          <p:nvPr/>
        </p:nvSpPr>
        <p:spPr>
          <a:xfrm>
            <a:off x="4438539" y="3457575"/>
            <a:ext cx="3676558" cy="1238250"/>
          </a:xfrm>
          <a:prstGeom prst="roundRect">
            <a:avLst>
              <a:gd name="adj" fmla="val 3692"/>
            </a:avLst>
          </a:prstGeom>
          <a:solidFill>
            <a:srgbClr val="2B5146"/>
          </a:solidFill>
          <a:ln/>
        </p:spPr>
      </p:sp>
      <p:sp>
        <p:nvSpPr>
          <p:cNvPr id="27" name="Text 25"/>
          <p:cNvSpPr/>
          <p:nvPr/>
        </p:nvSpPr>
        <p:spPr>
          <a:xfrm>
            <a:off x="4619509" y="3619500"/>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for &amp; Enhanced for</a:t>
            </a:r>
            <a:endParaRPr lang="en-US" sz="1500" dirty="0"/>
          </a:p>
        </p:txBody>
      </p:sp>
      <p:sp>
        <p:nvSpPr>
          <p:cNvPr id="28" name="Text 26"/>
          <p:cNvSpPr/>
          <p:nvPr/>
        </p:nvSpPr>
        <p:spPr>
          <a:xfrm>
            <a:off x="4619509" y="3949779"/>
            <a:ext cx="3314617" cy="584895"/>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D9E4DC"/>
                </a:solidFill>
                <a:latin typeface="Geist" pitchFamily="34" charset="0"/>
                <a:ea typeface="Geist" pitchFamily="34" charset="-122"/>
                <a:cs typeface="Geist" pitchFamily="34" charset="-120"/>
              </a:rPr>
              <a:t>Nested loops create the theatre grid; for loops print menus, and enhanced for counts available seats.</a:t>
            </a:r>
            <a:endParaRPr lang="en-US" sz="1300" dirty="0"/>
          </a:p>
        </p:txBody>
      </p:sp>
      <p:sp>
        <p:nvSpPr>
          <p:cNvPr id="29" name="Text 27"/>
          <p:cNvSpPr/>
          <p:nvPr/>
        </p:nvSpPr>
        <p:spPr>
          <a:xfrm>
            <a:off x="1523962" y="6423223"/>
            <a:ext cx="7086423" cy="171450"/>
          </a:xfrm>
          <a:prstGeom prst="rect">
            <a:avLst/>
          </a:prstGeom>
          <a:noFill/>
          <a:ln/>
        </p:spPr>
        <p:txBody>
          <a:bodyPr wrap="none" lIns="0" tIns="0" rIns="0" bIns="0" rtlCol="0" anchor="t"/>
          <a:lstStyle/>
          <a:p>
            <a:pPr marL="0" indent="0" algn="l">
              <a:lnSpc>
                <a:spcPct val="125000"/>
              </a:lnSpc>
              <a:buNone/>
            </a:pPr>
            <a:r>
              <a:rPr lang="en-US" sz="900" dirty="0">
                <a:solidFill>
                  <a:srgbClr val="A9C0B2"/>
                </a:solidFill>
                <a:latin typeface="Geist Mono" pitchFamily="34" charset="0"/>
                <a:ea typeface="Geist Mono" pitchFamily="34" charset="-122"/>
                <a:cs typeface="Geist Mono" pitchFamily="34" charset="-120"/>
              </a:rPr>
              <a:t>JAVA CONSOLE BOOKING PROJECT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34187" y="0"/>
            <a:ext cx="3657509" cy="6858000"/>
          </a:xfrm>
          <a:prstGeom prst="rect">
            <a:avLst/>
          </a:prstGeom>
        </p:spPr>
      </p:pic>
      <p:sp>
        <p:nvSpPr>
          <p:cNvPr id="3" name="Text 0"/>
          <p:cNvSpPr/>
          <p:nvPr/>
        </p:nvSpPr>
        <p:spPr>
          <a:xfrm>
            <a:off x="609585" y="427831"/>
            <a:ext cx="8229394" cy="200025"/>
          </a:xfrm>
          <a:prstGeom prst="rect">
            <a:avLst/>
          </a:prstGeom>
          <a:noFill/>
          <a:ln/>
        </p:spPr>
        <p:txBody>
          <a:bodyPr wrap="none" lIns="0" tIns="0" rIns="0" bIns="0" rtlCol="0" anchor="t"/>
          <a:lstStyle/>
          <a:p>
            <a:pPr marL="0" indent="0" algn="l">
              <a:lnSpc>
                <a:spcPct val="125000"/>
              </a:lnSpc>
              <a:buNone/>
            </a:pPr>
            <a:r>
              <a:rPr lang="en-US" sz="1050" dirty="0">
                <a:solidFill>
                  <a:srgbClr val="A9C0B2"/>
                </a:solidFill>
                <a:latin typeface="Geist Mono Medium" pitchFamily="34" charset="0"/>
                <a:ea typeface="Geist Mono Medium" pitchFamily="34" charset="-122"/>
                <a:cs typeface="Geist Mono Medium" pitchFamily="34" charset="-120"/>
              </a:rPr>
              <a:t>MODULARITY &amp; DATA STRUCTURES</a:t>
            </a:r>
            <a:endParaRPr lang="en-US" sz="1050" dirty="0"/>
          </a:p>
        </p:txBody>
      </p:sp>
      <p:sp>
        <p:nvSpPr>
          <p:cNvPr id="4" name="Text 1"/>
          <p:cNvSpPr/>
          <p:nvPr/>
        </p:nvSpPr>
        <p:spPr>
          <a:xfrm>
            <a:off x="609585" y="642505"/>
            <a:ext cx="7562661" cy="1005681"/>
          </a:xfrm>
          <a:prstGeom prst="rect">
            <a:avLst/>
          </a:prstGeom>
          <a:noFill/>
          <a:ln/>
        </p:spPr>
        <p:txBody>
          <a:bodyPr wrap="square" lIns="0" tIns="0" rIns="0" bIns="0" rtlCol="0" anchor="t">
            <a:normAutofit/>
          </a:bodyPr>
          <a:lstStyle/>
          <a:p>
            <a:pPr marL="0" indent="0" algn="l">
              <a:lnSpc>
                <a:spcPct val="100000"/>
              </a:lnSpc>
              <a:buNone/>
            </a:pPr>
            <a:r>
              <a:rPr lang="en-US" sz="3300" dirty="0">
                <a:solidFill>
                  <a:srgbClr val="F3F6EE"/>
                </a:solidFill>
                <a:latin typeface="Geist" pitchFamily="34" charset="0"/>
                <a:ea typeface="Geist" pitchFamily="34" charset="-122"/>
                <a:cs typeface="Geist" pitchFamily="34" charset="-120"/>
              </a:rPr>
              <a:t>Module 3: Concepts Used in Our Project</a:t>
            </a:r>
            <a:endParaRPr lang="en-US" sz="3300" dirty="0"/>
          </a:p>
        </p:txBody>
      </p:sp>
      <p:sp>
        <p:nvSpPr>
          <p:cNvPr id="5" name="Shape 2"/>
          <p:cNvSpPr/>
          <p:nvPr/>
        </p:nvSpPr>
        <p:spPr>
          <a:xfrm>
            <a:off x="609585" y="1847850"/>
            <a:ext cx="2476438" cy="19050"/>
          </a:xfrm>
          <a:prstGeom prst="roundRect">
            <a:avLst>
              <a:gd name="adj" fmla="val 49999"/>
            </a:avLst>
          </a:prstGeom>
          <a:solidFill>
            <a:srgbClr val="2E5C4C"/>
          </a:solidFill>
          <a:ln/>
        </p:spPr>
      </p:sp>
      <p:sp>
        <p:nvSpPr>
          <p:cNvPr id="6" name="Text 3"/>
          <p:cNvSpPr/>
          <p:nvPr/>
        </p:nvSpPr>
        <p:spPr>
          <a:xfrm>
            <a:off x="609585" y="6419056"/>
            <a:ext cx="1419189" cy="200025"/>
          </a:xfrm>
          <a:prstGeom prst="rect">
            <a:avLst/>
          </a:prstGeom>
          <a:noFill/>
          <a:ln/>
        </p:spPr>
        <p:txBody>
          <a:bodyPr wrap="none" lIns="0" tIns="0" rIns="0" bIns="0" rtlCol="0" anchor="t"/>
          <a:lstStyle/>
          <a:p>
            <a:pPr marL="0" indent="0" algn="l">
              <a:lnSpc>
                <a:spcPct val="125000"/>
              </a:lnSpc>
              <a:buNone/>
            </a:pPr>
            <a:r>
              <a:rPr lang="en-US" sz="1050" dirty="0">
                <a:solidFill>
                  <a:srgbClr val="A9C0B2"/>
                </a:solidFill>
                <a:latin typeface="Geist Mono" pitchFamily="34" charset="0"/>
                <a:ea typeface="Geist Mono" pitchFamily="34" charset="-122"/>
                <a:cs typeface="Geist Mono" pitchFamily="34" charset="-120"/>
              </a:rPr>
              <a:t>05</a:t>
            </a:r>
            <a:endParaRPr lang="en-US" sz="1050" dirty="0"/>
          </a:p>
        </p:txBody>
      </p:sp>
      <p:sp>
        <p:nvSpPr>
          <p:cNvPr id="7" name="Shape 4"/>
          <p:cNvSpPr/>
          <p:nvPr/>
        </p:nvSpPr>
        <p:spPr>
          <a:xfrm>
            <a:off x="609585" y="2057400"/>
            <a:ext cx="3676558" cy="1238250"/>
          </a:xfrm>
          <a:prstGeom prst="roundRect">
            <a:avLst>
              <a:gd name="adj" fmla="val 3692"/>
            </a:avLst>
          </a:prstGeom>
          <a:solidFill>
            <a:srgbClr val="2B5146"/>
          </a:solidFill>
          <a:ln/>
        </p:spPr>
      </p:sp>
      <p:sp>
        <p:nvSpPr>
          <p:cNvPr id="8" name="Text 5"/>
          <p:cNvSpPr/>
          <p:nvPr/>
        </p:nvSpPr>
        <p:spPr>
          <a:xfrm>
            <a:off x="790555" y="2219325"/>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Methods &amp; Decomposition</a:t>
            </a:r>
            <a:endParaRPr lang="en-US" sz="1500" dirty="0"/>
          </a:p>
        </p:txBody>
      </p:sp>
      <p:sp>
        <p:nvSpPr>
          <p:cNvPr id="9" name="Text 6"/>
          <p:cNvSpPr/>
          <p:nvPr/>
        </p:nvSpPr>
        <p:spPr>
          <a:xfrm>
            <a:off x="790555" y="2549604"/>
            <a:ext cx="3257469" cy="584895"/>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D9E4DC"/>
                </a:solidFill>
                <a:latin typeface="Geist" pitchFamily="34" charset="0"/>
                <a:ea typeface="Geist" pitchFamily="34" charset="-122"/>
                <a:cs typeface="Geist" pitchFamily="34" charset="-120"/>
              </a:rPr>
              <a:t>Separate methods create theatres, print menus, validate input, calculate bills, and handle files.</a:t>
            </a:r>
            <a:endParaRPr lang="en-US" sz="1300" dirty="0"/>
          </a:p>
        </p:txBody>
      </p:sp>
      <p:sp>
        <p:nvSpPr>
          <p:cNvPr id="10" name="Shape 7"/>
          <p:cNvSpPr/>
          <p:nvPr/>
        </p:nvSpPr>
        <p:spPr>
          <a:xfrm>
            <a:off x="4438539" y="2057400"/>
            <a:ext cx="3676558" cy="1238250"/>
          </a:xfrm>
          <a:prstGeom prst="roundRect">
            <a:avLst>
              <a:gd name="adj" fmla="val 3692"/>
            </a:avLst>
          </a:prstGeom>
          <a:solidFill>
            <a:srgbClr val="2B5146"/>
          </a:solidFill>
          <a:ln/>
        </p:spPr>
      </p:sp>
      <p:sp>
        <p:nvSpPr>
          <p:cNvPr id="11" name="Text 8"/>
          <p:cNvSpPr/>
          <p:nvPr/>
        </p:nvSpPr>
        <p:spPr>
          <a:xfrm>
            <a:off x="4619509" y="2219325"/>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Parameters &amp; Returns</a:t>
            </a:r>
            <a:endParaRPr lang="en-US" sz="1500" dirty="0"/>
          </a:p>
        </p:txBody>
      </p:sp>
      <p:sp>
        <p:nvSpPr>
          <p:cNvPr id="12" name="Text 9"/>
          <p:cNvSpPr/>
          <p:nvPr/>
        </p:nvSpPr>
        <p:spPr>
          <a:xfrm>
            <a:off x="4619509" y="2549604"/>
            <a:ext cx="3314617" cy="584895"/>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D9E4DC"/>
                </a:solidFill>
                <a:latin typeface="Geist" pitchFamily="34" charset="0"/>
                <a:ea typeface="Geist" pitchFamily="34" charset="-122"/>
                <a:cs typeface="Geist" pitchFamily="34" charset="-120"/>
              </a:rPr>
              <a:t>Methods receive Scanner, arrays, or booking data and return choices, theatre objects, or booking lists.</a:t>
            </a:r>
            <a:endParaRPr lang="en-US" sz="1300" dirty="0"/>
          </a:p>
        </p:txBody>
      </p:sp>
      <p:sp>
        <p:nvSpPr>
          <p:cNvPr id="13" name="Shape 10"/>
          <p:cNvSpPr/>
          <p:nvPr/>
        </p:nvSpPr>
        <p:spPr>
          <a:xfrm>
            <a:off x="609585" y="3457575"/>
            <a:ext cx="3676558" cy="1238250"/>
          </a:xfrm>
          <a:prstGeom prst="roundRect">
            <a:avLst>
              <a:gd name="adj" fmla="val 3692"/>
            </a:avLst>
          </a:prstGeom>
          <a:solidFill>
            <a:srgbClr val="2B5146"/>
          </a:solidFill>
          <a:ln/>
        </p:spPr>
      </p:sp>
      <p:sp>
        <p:nvSpPr>
          <p:cNvPr id="14" name="Text 11"/>
          <p:cNvSpPr/>
          <p:nvPr/>
        </p:nvSpPr>
        <p:spPr>
          <a:xfrm>
            <a:off x="790555" y="3619500"/>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One- and Two-Dimensional Arrays</a:t>
            </a:r>
            <a:endParaRPr lang="en-US" sz="1500" dirty="0"/>
          </a:p>
        </p:txBody>
      </p:sp>
      <p:sp>
        <p:nvSpPr>
          <p:cNvPr id="15" name="Text 12"/>
          <p:cNvSpPr/>
          <p:nvPr/>
        </p:nvSpPr>
        <p:spPr>
          <a:xfrm>
            <a:off x="790555" y="3949779"/>
            <a:ext cx="3257469" cy="584895"/>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D9E4DC"/>
                </a:solidFill>
                <a:latin typeface="Geist" pitchFamily="34" charset="0"/>
                <a:ea typeface="Geist" pitchFamily="34" charset="-122"/>
                <a:cs typeface="Geist" pitchFamily="34" charset="-120"/>
              </a:rPr>
              <a:t>String arrays store movies and locations; String[][] stores theatres; boolean[400] stores seat status.</a:t>
            </a:r>
            <a:endParaRPr lang="en-US" sz="1300" dirty="0"/>
          </a:p>
        </p:txBody>
      </p:sp>
      <p:sp>
        <p:nvSpPr>
          <p:cNvPr id="16" name="Shape 13"/>
          <p:cNvSpPr/>
          <p:nvPr/>
        </p:nvSpPr>
        <p:spPr>
          <a:xfrm>
            <a:off x="4438539" y="3457575"/>
            <a:ext cx="3676558" cy="1238250"/>
          </a:xfrm>
          <a:prstGeom prst="roundRect">
            <a:avLst>
              <a:gd name="adj" fmla="val 3692"/>
            </a:avLst>
          </a:prstGeom>
          <a:solidFill>
            <a:srgbClr val="2B5146"/>
          </a:solidFill>
          <a:ln/>
        </p:spPr>
      </p:sp>
      <p:sp>
        <p:nvSpPr>
          <p:cNvPr id="17" name="Text 14"/>
          <p:cNvSpPr/>
          <p:nvPr/>
        </p:nvSpPr>
        <p:spPr>
          <a:xfrm>
            <a:off x="4619509" y="3619500"/>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Searching &amp; Counting</a:t>
            </a:r>
            <a:endParaRPr lang="en-US" sz="1500" dirty="0"/>
          </a:p>
        </p:txBody>
      </p:sp>
      <p:sp>
        <p:nvSpPr>
          <p:cNvPr id="18" name="Text 15"/>
          <p:cNvSpPr/>
          <p:nvPr/>
        </p:nvSpPr>
        <p:spPr>
          <a:xfrm>
            <a:off x="4619509" y="3949779"/>
            <a:ext cx="3257469" cy="584895"/>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D9E4DC"/>
                </a:solidFill>
                <a:latin typeface="Geist" pitchFamily="34" charset="0"/>
                <a:ea typeface="Geist" pitchFamily="34" charset="-122"/>
                <a:cs typeface="Geist" pitchFamily="34" charset="-120"/>
              </a:rPr>
              <a:t>isSeatAvailable checks a seat index; getAvailableSeatCount traverses the array and counts free seats.</a:t>
            </a:r>
            <a:endParaRPr lang="en-US" sz="1300" dirty="0"/>
          </a:p>
        </p:txBody>
      </p:sp>
      <p:sp>
        <p:nvSpPr>
          <p:cNvPr id="19" name="Text 16"/>
          <p:cNvSpPr/>
          <p:nvPr/>
        </p:nvSpPr>
        <p:spPr>
          <a:xfrm>
            <a:off x="1523962" y="6423223"/>
            <a:ext cx="7086423" cy="171450"/>
          </a:xfrm>
          <a:prstGeom prst="rect">
            <a:avLst/>
          </a:prstGeom>
          <a:noFill/>
          <a:ln/>
        </p:spPr>
        <p:txBody>
          <a:bodyPr wrap="none" lIns="0" tIns="0" rIns="0" bIns="0" rtlCol="0" anchor="t"/>
          <a:lstStyle/>
          <a:p>
            <a:pPr marL="0" indent="0" algn="l">
              <a:lnSpc>
                <a:spcPct val="125000"/>
              </a:lnSpc>
              <a:buNone/>
            </a:pPr>
            <a:r>
              <a:rPr lang="en-US" sz="900" dirty="0">
                <a:solidFill>
                  <a:srgbClr val="A9C0B2"/>
                </a:solidFill>
                <a:latin typeface="Geist Mono" pitchFamily="34" charset="0"/>
                <a:ea typeface="Geist Mono" pitchFamily="34" charset="-122"/>
                <a:cs typeface="Geist Mono" pitchFamily="34" charset="-120"/>
              </a:rPr>
              <a:t>JAVA CONSOLE BOOKING PROJECT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534187" y="0"/>
            <a:ext cx="3657509" cy="6858000"/>
          </a:xfrm>
          <a:prstGeom prst="rect">
            <a:avLst/>
          </a:prstGeom>
          <a:solidFill>
            <a:srgbClr val="102E26"/>
          </a:solidFill>
          <a:ln/>
        </p:spPr>
      </p:sp>
      <p:sp>
        <p:nvSpPr>
          <p:cNvPr id="3" name="Text 1"/>
          <p:cNvSpPr/>
          <p:nvPr/>
        </p:nvSpPr>
        <p:spPr>
          <a:xfrm>
            <a:off x="8877078" y="809030"/>
            <a:ext cx="3314617" cy="329505"/>
          </a:xfrm>
          <a:prstGeom prst="rect">
            <a:avLst/>
          </a:prstGeom>
          <a:noFill/>
          <a:ln/>
        </p:spPr>
        <p:txBody>
          <a:bodyPr wrap="none" lIns="0" tIns="0" rIns="0" bIns="0" rtlCol="0" anchor="t"/>
          <a:lstStyle/>
          <a:p>
            <a:pPr marL="0" indent="0" algn="l">
              <a:lnSpc>
                <a:spcPct val="125000"/>
              </a:lnSpc>
              <a:buNone/>
            </a:pPr>
            <a:r>
              <a:rPr lang="en-US" sz="1750" dirty="0">
                <a:solidFill>
                  <a:srgbClr val="F3F6EE"/>
                </a:solidFill>
                <a:latin typeface="Geist Medium" pitchFamily="34" charset="0"/>
                <a:ea typeface="Geist Medium" pitchFamily="34" charset="-122"/>
                <a:cs typeface="Geist Medium" pitchFamily="34" charset="-120"/>
              </a:rPr>
              <a:t>OBJECT MODEL</a:t>
            </a:r>
            <a:endParaRPr lang="en-US" sz="1750" dirty="0"/>
          </a:p>
        </p:txBody>
      </p:sp>
      <p:sp>
        <p:nvSpPr>
          <p:cNvPr id="4" name="Text 2"/>
          <p:cNvSpPr/>
          <p:nvPr/>
        </p:nvSpPr>
        <p:spPr>
          <a:xfrm>
            <a:off x="8877078" y="1395214"/>
            <a:ext cx="3314617" cy="228600"/>
          </a:xfrm>
          <a:prstGeom prst="rect">
            <a:avLst/>
          </a:prstGeom>
          <a:noFill/>
          <a:ln/>
        </p:spPr>
        <p:txBody>
          <a:bodyPr wrap="none" lIns="0" tIns="0" rIns="0" bIns="0" rtlCol="0" anchor="t"/>
          <a:lstStyle/>
          <a:p>
            <a:pPr marL="0" indent="0" algn="l">
              <a:lnSpc>
                <a:spcPct val="125000"/>
              </a:lnSpc>
              <a:buNone/>
            </a:pPr>
            <a:r>
              <a:rPr lang="en-US" sz="1200" dirty="0">
                <a:solidFill>
                  <a:srgbClr val="A9C0B2"/>
                </a:solidFill>
                <a:latin typeface="Geist" pitchFamily="34" charset="0"/>
                <a:ea typeface="Geist" pitchFamily="34" charset="-122"/>
                <a:cs typeface="Geist" pitchFamily="34" charset="-120"/>
              </a:rPr>
              <a:t>Each venue owns its seat array.</a:t>
            </a:r>
            <a:endParaRPr lang="en-US" sz="1200" dirty="0"/>
          </a:p>
        </p:txBody>
      </p:sp>
      <p:sp>
        <p:nvSpPr>
          <p:cNvPr id="5" name="Shape 3"/>
          <p:cNvSpPr/>
          <p:nvPr/>
        </p:nvSpPr>
        <p:spPr>
          <a:xfrm>
            <a:off x="8877078" y="2143125"/>
            <a:ext cx="2857429" cy="781050"/>
          </a:xfrm>
          <a:prstGeom prst="roundRect">
            <a:avLst>
              <a:gd name="adj" fmla="val 5854"/>
            </a:avLst>
          </a:prstGeom>
          <a:solidFill>
            <a:srgbClr val="2B5146"/>
          </a:solidFill>
          <a:ln/>
        </p:spPr>
      </p:sp>
      <p:sp>
        <p:nvSpPr>
          <p:cNvPr id="6" name="Text 4"/>
          <p:cNvSpPr/>
          <p:nvPr/>
        </p:nvSpPr>
        <p:spPr>
          <a:xfrm>
            <a:off x="9029474" y="2313285"/>
            <a:ext cx="2552636" cy="487561"/>
          </a:xfrm>
          <a:prstGeom prst="rect">
            <a:avLst/>
          </a:prstGeom>
          <a:noFill/>
          <a:ln/>
        </p:spPr>
        <p:txBody>
          <a:bodyPr wrap="square" lIns="0" tIns="0" rIns="0" bIns="0" rtlCol="0" anchor="t">
            <a:normAutofit/>
          </a:bodyPr>
          <a:lstStyle/>
          <a:p>
            <a:pPr marL="0" indent="0" algn="ctr">
              <a:lnSpc>
                <a:spcPct val="125000"/>
              </a:lnSpc>
              <a:buNone/>
            </a:pPr>
            <a:r>
              <a:rPr lang="en-US" sz="1300" dirty="0">
                <a:solidFill>
                  <a:srgbClr val="F3F6EE"/>
                </a:solidFill>
                <a:latin typeface="Geist" pitchFamily="34" charset="0"/>
                <a:ea typeface="Geist" pitchFamily="34" charset="-122"/>
                <a:cs typeface="Geist" pitchFamily="34" charset="-120"/>
              </a:rPr>
              <a:t>Theatre</a:t>
            </a:r>
            <a:endParaRPr lang="en-US" sz="1300" dirty="0"/>
          </a:p>
          <a:p>
            <a:pPr marL="0" indent="0" algn="ctr">
              <a:lnSpc>
                <a:spcPct val="125000"/>
              </a:lnSpc>
              <a:buNone/>
            </a:pPr>
            <a:r>
              <a:rPr lang="en-US" sz="1300" dirty="0">
                <a:solidFill>
                  <a:srgbClr val="F3F6EE"/>
                </a:solidFill>
                <a:latin typeface="Geist" pitchFamily="34" charset="0"/>
                <a:ea typeface="Geist" pitchFamily="34" charset="-122"/>
                <a:cs typeface="Geist" pitchFamily="34" charset="-120"/>
              </a:rPr>
              <a:t>location · name · boolean[400]</a:t>
            </a:r>
            <a:endParaRPr lang="en-US" sz="1300" dirty="0"/>
          </a:p>
        </p:txBody>
      </p:sp>
      <p:sp>
        <p:nvSpPr>
          <p:cNvPr id="7" name="Text 5"/>
          <p:cNvSpPr/>
          <p:nvPr/>
        </p:nvSpPr>
        <p:spPr>
          <a:xfrm>
            <a:off x="9410465" y="2971800"/>
            <a:ext cx="1752556" cy="342900"/>
          </a:xfrm>
          <a:prstGeom prst="rect">
            <a:avLst/>
          </a:prstGeom>
          <a:noFill/>
          <a:ln/>
        </p:spPr>
        <p:txBody>
          <a:bodyPr wrap="none" lIns="0" tIns="0" rIns="0" bIns="0" rtlCol="0" anchor="t"/>
          <a:lstStyle/>
          <a:p>
            <a:pPr marL="0" indent="0" algn="ctr">
              <a:lnSpc>
                <a:spcPct val="125000"/>
              </a:lnSpc>
              <a:buNone/>
            </a:pPr>
            <a:r>
              <a:rPr lang="en-US" sz="1800" dirty="0">
                <a:solidFill>
                  <a:srgbClr val="C9E265"/>
                </a:solidFill>
                <a:latin typeface="Geist" pitchFamily="34" charset="0"/>
                <a:ea typeface="Geist" pitchFamily="34" charset="-122"/>
                <a:cs typeface="Geist" pitchFamily="34" charset="-120"/>
              </a:rPr>
              <a:t>↓</a:t>
            </a:r>
            <a:endParaRPr lang="en-US" sz="1800" dirty="0"/>
          </a:p>
        </p:txBody>
      </p:sp>
      <p:sp>
        <p:nvSpPr>
          <p:cNvPr id="8" name="Shape 6"/>
          <p:cNvSpPr/>
          <p:nvPr/>
        </p:nvSpPr>
        <p:spPr>
          <a:xfrm>
            <a:off x="8877078" y="3371850"/>
            <a:ext cx="2857429" cy="781050"/>
          </a:xfrm>
          <a:prstGeom prst="roundRect">
            <a:avLst>
              <a:gd name="adj" fmla="val 5854"/>
            </a:avLst>
          </a:prstGeom>
          <a:solidFill>
            <a:srgbClr val="2B5146"/>
          </a:solidFill>
          <a:ln/>
        </p:spPr>
      </p:sp>
      <p:sp>
        <p:nvSpPr>
          <p:cNvPr id="9" name="Text 7"/>
          <p:cNvSpPr/>
          <p:nvPr/>
        </p:nvSpPr>
        <p:spPr>
          <a:xfrm>
            <a:off x="9029474" y="3542010"/>
            <a:ext cx="2552636" cy="487561"/>
          </a:xfrm>
          <a:prstGeom prst="rect">
            <a:avLst/>
          </a:prstGeom>
          <a:noFill/>
          <a:ln/>
        </p:spPr>
        <p:txBody>
          <a:bodyPr wrap="square" lIns="0" tIns="0" rIns="0" bIns="0" rtlCol="0" anchor="t">
            <a:normAutofit/>
          </a:bodyPr>
          <a:lstStyle/>
          <a:p>
            <a:pPr marL="0" indent="0" algn="ctr">
              <a:lnSpc>
                <a:spcPct val="125000"/>
              </a:lnSpc>
              <a:buNone/>
            </a:pPr>
            <a:r>
              <a:rPr lang="en-US" sz="1300" dirty="0">
                <a:solidFill>
                  <a:srgbClr val="F3F6EE"/>
                </a:solidFill>
                <a:latin typeface="Geist" pitchFamily="34" charset="0"/>
                <a:ea typeface="Geist" pitchFamily="34" charset="-122"/>
                <a:cs typeface="Geist" pitchFamily="34" charset="-120"/>
              </a:rPr>
              <a:t>Booking</a:t>
            </a:r>
            <a:endParaRPr lang="en-US" sz="1300" dirty="0"/>
          </a:p>
          <a:p>
            <a:pPr marL="0" indent="0" algn="ctr">
              <a:lnSpc>
                <a:spcPct val="125000"/>
              </a:lnSpc>
              <a:buNone/>
            </a:pPr>
            <a:r>
              <a:rPr lang="en-US" sz="1300" dirty="0">
                <a:solidFill>
                  <a:srgbClr val="F3F6EE"/>
                </a:solidFill>
                <a:latin typeface="Geist" pitchFamily="34" charset="0"/>
                <a:ea typeface="Geist" pitchFamily="34" charset="-122"/>
                <a:cs typeface="Geist" pitchFamily="34" charset="-120"/>
              </a:rPr>
              <a:t>movie · theatre · seat · price</a:t>
            </a:r>
            <a:endParaRPr lang="en-US" sz="1300" dirty="0"/>
          </a:p>
        </p:txBody>
      </p:sp>
      <p:sp>
        <p:nvSpPr>
          <p:cNvPr id="10" name="Text 8"/>
          <p:cNvSpPr/>
          <p:nvPr/>
        </p:nvSpPr>
        <p:spPr>
          <a:xfrm>
            <a:off x="9410465" y="4200525"/>
            <a:ext cx="1752556" cy="342900"/>
          </a:xfrm>
          <a:prstGeom prst="rect">
            <a:avLst/>
          </a:prstGeom>
          <a:noFill/>
          <a:ln/>
        </p:spPr>
        <p:txBody>
          <a:bodyPr wrap="none" lIns="0" tIns="0" rIns="0" bIns="0" rtlCol="0" anchor="t"/>
          <a:lstStyle/>
          <a:p>
            <a:pPr marL="0" indent="0" algn="ctr">
              <a:lnSpc>
                <a:spcPct val="125000"/>
              </a:lnSpc>
              <a:buNone/>
            </a:pPr>
            <a:r>
              <a:rPr lang="en-US" sz="1800" dirty="0">
                <a:solidFill>
                  <a:srgbClr val="C9E265"/>
                </a:solidFill>
                <a:latin typeface="Geist" pitchFamily="34" charset="0"/>
                <a:ea typeface="Geist" pitchFamily="34" charset="-122"/>
                <a:cs typeface="Geist" pitchFamily="34" charset="-120"/>
              </a:rPr>
              <a:t>↓</a:t>
            </a:r>
            <a:endParaRPr lang="en-US" sz="1800" dirty="0"/>
          </a:p>
        </p:txBody>
      </p:sp>
      <p:sp>
        <p:nvSpPr>
          <p:cNvPr id="11" name="Shape 9"/>
          <p:cNvSpPr/>
          <p:nvPr/>
        </p:nvSpPr>
        <p:spPr>
          <a:xfrm>
            <a:off x="8877078" y="4600575"/>
            <a:ext cx="2857429" cy="781050"/>
          </a:xfrm>
          <a:prstGeom prst="roundRect">
            <a:avLst>
              <a:gd name="adj" fmla="val 5854"/>
            </a:avLst>
          </a:prstGeom>
          <a:solidFill>
            <a:srgbClr val="2B5146"/>
          </a:solidFill>
          <a:ln/>
        </p:spPr>
      </p:sp>
      <p:sp>
        <p:nvSpPr>
          <p:cNvPr id="12" name="Text 10"/>
          <p:cNvSpPr/>
          <p:nvPr/>
        </p:nvSpPr>
        <p:spPr>
          <a:xfrm>
            <a:off x="9029474" y="4770735"/>
            <a:ext cx="2552636" cy="487561"/>
          </a:xfrm>
          <a:prstGeom prst="rect">
            <a:avLst/>
          </a:prstGeom>
          <a:noFill/>
          <a:ln/>
        </p:spPr>
        <p:txBody>
          <a:bodyPr wrap="square" lIns="0" tIns="0" rIns="0" bIns="0" rtlCol="0" anchor="t">
            <a:normAutofit/>
          </a:bodyPr>
          <a:lstStyle/>
          <a:p>
            <a:pPr marL="0" indent="0" algn="ctr">
              <a:lnSpc>
                <a:spcPct val="125000"/>
              </a:lnSpc>
              <a:buNone/>
            </a:pPr>
            <a:r>
              <a:rPr lang="en-US" sz="1300" dirty="0">
                <a:solidFill>
                  <a:srgbClr val="F3F6EE"/>
                </a:solidFill>
                <a:latin typeface="Geist" pitchFamily="34" charset="0"/>
                <a:ea typeface="Geist" pitchFamily="34" charset="-122"/>
                <a:cs typeface="Geist" pitchFamily="34" charset="-120"/>
              </a:rPr>
              <a:t>implements Billable</a:t>
            </a:r>
            <a:endParaRPr lang="en-US" sz="1300" dirty="0"/>
          </a:p>
          <a:p>
            <a:pPr marL="0" indent="0" algn="ctr">
              <a:lnSpc>
                <a:spcPct val="125000"/>
              </a:lnSpc>
              <a:buNone/>
            </a:pPr>
            <a:r>
              <a:rPr lang="en-US" sz="1300" dirty="0">
                <a:solidFill>
                  <a:srgbClr val="F3F6EE"/>
                </a:solidFill>
                <a:latin typeface="Geist" pitchFamily="34" charset="0"/>
                <a:ea typeface="Geist" pitchFamily="34" charset="-122"/>
                <a:cs typeface="Geist" pitchFamily="34" charset="-120"/>
              </a:rPr>
              <a:t>calculateTotal()</a:t>
            </a:r>
            <a:endParaRPr lang="en-US" sz="1300" dirty="0"/>
          </a:p>
        </p:txBody>
      </p:sp>
      <p:sp>
        <p:nvSpPr>
          <p:cNvPr id="13" name="Text 11"/>
          <p:cNvSpPr/>
          <p:nvPr/>
        </p:nvSpPr>
        <p:spPr>
          <a:xfrm>
            <a:off x="609585" y="427831"/>
            <a:ext cx="8229394" cy="200025"/>
          </a:xfrm>
          <a:prstGeom prst="rect">
            <a:avLst/>
          </a:prstGeom>
          <a:noFill/>
          <a:ln/>
        </p:spPr>
        <p:txBody>
          <a:bodyPr wrap="none" lIns="0" tIns="0" rIns="0" bIns="0" rtlCol="0" anchor="t"/>
          <a:lstStyle/>
          <a:p>
            <a:pPr marL="0" indent="0" algn="l">
              <a:lnSpc>
                <a:spcPct val="125000"/>
              </a:lnSpc>
              <a:buNone/>
            </a:pPr>
            <a:r>
              <a:rPr lang="en-US" sz="1050" dirty="0">
                <a:solidFill>
                  <a:srgbClr val="A9C0B2"/>
                </a:solidFill>
                <a:latin typeface="Geist Mono Medium" pitchFamily="34" charset="0"/>
                <a:ea typeface="Geist Mono Medium" pitchFamily="34" charset="-122"/>
                <a:cs typeface="Geist Mono Medium" pitchFamily="34" charset="-120"/>
              </a:rPr>
              <a:t>OBJECT-ORIENTED DESIGN &amp; ERRORS</a:t>
            </a:r>
            <a:endParaRPr lang="en-US" sz="1050" dirty="0"/>
          </a:p>
        </p:txBody>
      </p:sp>
      <p:sp>
        <p:nvSpPr>
          <p:cNvPr id="14" name="Text 12"/>
          <p:cNvSpPr/>
          <p:nvPr/>
        </p:nvSpPr>
        <p:spPr>
          <a:xfrm>
            <a:off x="609585" y="642505"/>
            <a:ext cx="7562661" cy="1005681"/>
          </a:xfrm>
          <a:prstGeom prst="rect">
            <a:avLst/>
          </a:prstGeom>
          <a:noFill/>
          <a:ln/>
        </p:spPr>
        <p:txBody>
          <a:bodyPr wrap="square" lIns="0" tIns="0" rIns="0" bIns="0" rtlCol="0" anchor="t">
            <a:normAutofit/>
          </a:bodyPr>
          <a:lstStyle/>
          <a:p>
            <a:pPr marL="0" indent="0" algn="l">
              <a:lnSpc>
                <a:spcPct val="100000"/>
              </a:lnSpc>
              <a:buNone/>
            </a:pPr>
            <a:r>
              <a:rPr lang="en-US" sz="3300" dirty="0">
                <a:solidFill>
                  <a:srgbClr val="F3F6EE"/>
                </a:solidFill>
                <a:latin typeface="Geist" pitchFamily="34" charset="0"/>
                <a:ea typeface="Geist" pitchFamily="34" charset="-122"/>
                <a:cs typeface="Geist" pitchFamily="34" charset="-120"/>
              </a:rPr>
              <a:t>Module 4: Concepts Used in Our Project</a:t>
            </a:r>
            <a:endParaRPr lang="en-US" sz="3300" dirty="0"/>
          </a:p>
        </p:txBody>
      </p:sp>
      <p:sp>
        <p:nvSpPr>
          <p:cNvPr id="15" name="Shape 13"/>
          <p:cNvSpPr/>
          <p:nvPr/>
        </p:nvSpPr>
        <p:spPr>
          <a:xfrm>
            <a:off x="609585" y="1847850"/>
            <a:ext cx="2476438" cy="19050"/>
          </a:xfrm>
          <a:prstGeom prst="roundRect">
            <a:avLst>
              <a:gd name="adj" fmla="val 49999"/>
            </a:avLst>
          </a:prstGeom>
          <a:solidFill>
            <a:srgbClr val="2E5C4C"/>
          </a:solidFill>
          <a:ln/>
        </p:spPr>
      </p:sp>
      <p:sp>
        <p:nvSpPr>
          <p:cNvPr id="16" name="Text 14"/>
          <p:cNvSpPr/>
          <p:nvPr/>
        </p:nvSpPr>
        <p:spPr>
          <a:xfrm>
            <a:off x="609585" y="6419056"/>
            <a:ext cx="1419189" cy="200025"/>
          </a:xfrm>
          <a:prstGeom prst="rect">
            <a:avLst/>
          </a:prstGeom>
          <a:noFill/>
          <a:ln/>
        </p:spPr>
        <p:txBody>
          <a:bodyPr wrap="none" lIns="0" tIns="0" rIns="0" bIns="0" rtlCol="0" anchor="t"/>
          <a:lstStyle/>
          <a:p>
            <a:pPr marL="0" indent="0" algn="l">
              <a:lnSpc>
                <a:spcPct val="125000"/>
              </a:lnSpc>
              <a:buNone/>
            </a:pPr>
            <a:r>
              <a:rPr lang="en-US" sz="1050" dirty="0">
                <a:solidFill>
                  <a:srgbClr val="A9C0B2"/>
                </a:solidFill>
                <a:latin typeface="Geist Mono" pitchFamily="34" charset="0"/>
                <a:ea typeface="Geist Mono" pitchFamily="34" charset="-122"/>
                <a:cs typeface="Geist Mono" pitchFamily="34" charset="-120"/>
              </a:rPr>
              <a:t>06</a:t>
            </a:r>
            <a:endParaRPr lang="en-US" sz="1050" dirty="0"/>
          </a:p>
        </p:txBody>
      </p:sp>
      <p:sp>
        <p:nvSpPr>
          <p:cNvPr id="17" name="Shape 15"/>
          <p:cNvSpPr/>
          <p:nvPr/>
        </p:nvSpPr>
        <p:spPr>
          <a:xfrm>
            <a:off x="609585" y="2057400"/>
            <a:ext cx="3676558" cy="1238250"/>
          </a:xfrm>
          <a:prstGeom prst="roundRect">
            <a:avLst>
              <a:gd name="adj" fmla="val 3692"/>
            </a:avLst>
          </a:prstGeom>
          <a:solidFill>
            <a:srgbClr val="2B5146"/>
          </a:solidFill>
          <a:ln/>
        </p:spPr>
      </p:sp>
      <p:sp>
        <p:nvSpPr>
          <p:cNvPr id="18" name="Text 16"/>
          <p:cNvSpPr/>
          <p:nvPr/>
        </p:nvSpPr>
        <p:spPr>
          <a:xfrm>
            <a:off x="790555" y="2219325"/>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Classes &amp; Objects</a:t>
            </a:r>
            <a:endParaRPr lang="en-US" sz="1500" dirty="0"/>
          </a:p>
        </p:txBody>
      </p:sp>
      <p:sp>
        <p:nvSpPr>
          <p:cNvPr id="19" name="Text 17"/>
          <p:cNvSpPr/>
          <p:nvPr/>
        </p:nvSpPr>
        <p:spPr>
          <a:xfrm>
            <a:off x="790555" y="2549604"/>
            <a:ext cx="3257469" cy="584895"/>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D9E4DC"/>
                </a:solidFill>
                <a:latin typeface="Geist" pitchFamily="34" charset="0"/>
                <a:ea typeface="Geist" pitchFamily="34" charset="-122"/>
                <a:cs typeface="Geist" pitchFamily="34" charset="-120"/>
              </a:rPr>
              <a:t>Theatre models a venue and its seats; Booking represents one confirmed movie and seat.</a:t>
            </a:r>
            <a:endParaRPr lang="en-US" sz="1300" dirty="0"/>
          </a:p>
        </p:txBody>
      </p:sp>
      <p:sp>
        <p:nvSpPr>
          <p:cNvPr id="20" name="Shape 18"/>
          <p:cNvSpPr/>
          <p:nvPr/>
        </p:nvSpPr>
        <p:spPr>
          <a:xfrm>
            <a:off x="4438539" y="2057400"/>
            <a:ext cx="3676558" cy="1238250"/>
          </a:xfrm>
          <a:prstGeom prst="roundRect">
            <a:avLst>
              <a:gd name="adj" fmla="val 3692"/>
            </a:avLst>
          </a:prstGeom>
          <a:solidFill>
            <a:srgbClr val="2B5146"/>
          </a:solidFill>
          <a:ln/>
        </p:spPr>
      </p:sp>
      <p:sp>
        <p:nvSpPr>
          <p:cNvPr id="21" name="Text 19"/>
          <p:cNvSpPr/>
          <p:nvPr/>
        </p:nvSpPr>
        <p:spPr>
          <a:xfrm>
            <a:off x="4619509" y="2219325"/>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Encapsulation</a:t>
            </a:r>
            <a:endParaRPr lang="en-US" sz="1500" dirty="0"/>
          </a:p>
        </p:txBody>
      </p:sp>
      <p:sp>
        <p:nvSpPr>
          <p:cNvPr id="22" name="Text 20"/>
          <p:cNvSpPr/>
          <p:nvPr/>
        </p:nvSpPr>
        <p:spPr>
          <a:xfrm>
            <a:off x="4619509" y="2545655"/>
            <a:ext cx="3314617" cy="487561"/>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D9E4DC"/>
                </a:solidFill>
                <a:latin typeface="Geist" pitchFamily="34" charset="0"/>
                <a:ea typeface="Geist" pitchFamily="34" charset="-122"/>
                <a:cs typeface="Geist" pitchFamily="34" charset="-120"/>
              </a:rPr>
              <a:t>Private fields protect seat and booking data; public methods provide controlled access.</a:t>
            </a:r>
            <a:endParaRPr lang="en-US" sz="1300" dirty="0"/>
          </a:p>
        </p:txBody>
      </p:sp>
      <p:sp>
        <p:nvSpPr>
          <p:cNvPr id="23" name="Shape 21"/>
          <p:cNvSpPr/>
          <p:nvPr/>
        </p:nvSpPr>
        <p:spPr>
          <a:xfrm>
            <a:off x="609585" y="3457575"/>
            <a:ext cx="3676558" cy="1238250"/>
          </a:xfrm>
          <a:prstGeom prst="roundRect">
            <a:avLst>
              <a:gd name="adj" fmla="val 3692"/>
            </a:avLst>
          </a:prstGeom>
          <a:solidFill>
            <a:srgbClr val="2B5146"/>
          </a:solidFill>
          <a:ln/>
        </p:spPr>
      </p:sp>
      <p:sp>
        <p:nvSpPr>
          <p:cNvPr id="24" name="Text 22"/>
          <p:cNvSpPr/>
          <p:nvPr/>
        </p:nvSpPr>
        <p:spPr>
          <a:xfrm>
            <a:off x="790555" y="3619500"/>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Constructors &amp; Constants</a:t>
            </a:r>
            <a:endParaRPr lang="en-US" sz="1500" dirty="0"/>
          </a:p>
        </p:txBody>
      </p:sp>
      <p:sp>
        <p:nvSpPr>
          <p:cNvPr id="25" name="Text 23"/>
          <p:cNvSpPr/>
          <p:nvPr/>
        </p:nvSpPr>
        <p:spPr>
          <a:xfrm>
            <a:off x="790555" y="3949779"/>
            <a:ext cx="3257469" cy="584895"/>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D9E4DC"/>
                </a:solidFill>
                <a:latin typeface="Geist" pitchFamily="34" charset="0"/>
                <a:ea typeface="Geist" pitchFamily="34" charset="-122"/>
                <a:cs typeface="Geist" pitchFamily="34" charset="-120"/>
              </a:rPr>
              <a:t>Constructors initialize each theatre and booking; static final values hold shared settings.</a:t>
            </a:r>
            <a:endParaRPr lang="en-US" sz="1300" dirty="0"/>
          </a:p>
        </p:txBody>
      </p:sp>
      <p:sp>
        <p:nvSpPr>
          <p:cNvPr id="26" name="Shape 24"/>
          <p:cNvSpPr/>
          <p:nvPr/>
        </p:nvSpPr>
        <p:spPr>
          <a:xfrm>
            <a:off x="4438539" y="3457575"/>
            <a:ext cx="3676558" cy="1238250"/>
          </a:xfrm>
          <a:prstGeom prst="roundRect">
            <a:avLst>
              <a:gd name="adj" fmla="val 3692"/>
            </a:avLst>
          </a:prstGeom>
          <a:solidFill>
            <a:srgbClr val="2B5146"/>
          </a:solidFill>
          <a:ln/>
        </p:spPr>
      </p:sp>
      <p:sp>
        <p:nvSpPr>
          <p:cNvPr id="27" name="Text 25"/>
          <p:cNvSpPr/>
          <p:nvPr/>
        </p:nvSpPr>
        <p:spPr>
          <a:xfrm>
            <a:off x="4619509" y="3619500"/>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Interface &amp; Overriding</a:t>
            </a:r>
            <a:endParaRPr lang="en-US" sz="1500" dirty="0"/>
          </a:p>
        </p:txBody>
      </p:sp>
      <p:sp>
        <p:nvSpPr>
          <p:cNvPr id="28" name="Text 26"/>
          <p:cNvSpPr/>
          <p:nvPr/>
        </p:nvSpPr>
        <p:spPr>
          <a:xfrm>
            <a:off x="4619509" y="3949779"/>
            <a:ext cx="3314617" cy="584895"/>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D9E4DC"/>
                </a:solidFill>
                <a:latin typeface="Geist" pitchFamily="34" charset="0"/>
                <a:ea typeface="Geist" pitchFamily="34" charset="-122"/>
                <a:cs typeface="Geist" pitchFamily="34" charset="-120"/>
              </a:rPr>
              <a:t>Booking implements Billable and defines calculateTotal; Theatre overrides toString for display.</a:t>
            </a:r>
            <a:endParaRPr lang="en-US" sz="1300" dirty="0"/>
          </a:p>
        </p:txBody>
      </p:sp>
      <p:sp>
        <p:nvSpPr>
          <p:cNvPr id="29" name="Shape 27"/>
          <p:cNvSpPr/>
          <p:nvPr/>
        </p:nvSpPr>
        <p:spPr>
          <a:xfrm>
            <a:off x="609585" y="4857750"/>
            <a:ext cx="3676558" cy="1238250"/>
          </a:xfrm>
          <a:prstGeom prst="roundRect">
            <a:avLst>
              <a:gd name="adj" fmla="val 3692"/>
            </a:avLst>
          </a:prstGeom>
          <a:solidFill>
            <a:srgbClr val="2B5146"/>
          </a:solidFill>
          <a:ln/>
        </p:spPr>
      </p:sp>
      <p:sp>
        <p:nvSpPr>
          <p:cNvPr id="30" name="Text 28"/>
          <p:cNvSpPr/>
          <p:nvPr/>
        </p:nvSpPr>
        <p:spPr>
          <a:xfrm>
            <a:off x="790555" y="5019675"/>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Exception Handling</a:t>
            </a:r>
            <a:endParaRPr lang="en-US" sz="1500" dirty="0"/>
          </a:p>
        </p:txBody>
      </p:sp>
      <p:sp>
        <p:nvSpPr>
          <p:cNvPr id="31" name="Text 29"/>
          <p:cNvSpPr/>
          <p:nvPr/>
        </p:nvSpPr>
        <p:spPr>
          <a:xfrm>
            <a:off x="790555" y="5349954"/>
            <a:ext cx="3257469" cy="584895"/>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D9E4DC"/>
                </a:solidFill>
                <a:latin typeface="Geist" pitchFamily="34" charset="0"/>
                <a:ea typeface="Geist" pitchFamily="34" charset="-122"/>
                <a:cs typeface="Geist" pitchFamily="34" charset="-120"/>
              </a:rPr>
              <a:t>NumberFormatException handles invalid numbers; IllegalArgumentException guards seats; IOException handles file errors.</a:t>
            </a:r>
            <a:endParaRPr lang="en-US" sz="1300" dirty="0"/>
          </a:p>
        </p:txBody>
      </p:sp>
      <p:sp>
        <p:nvSpPr>
          <p:cNvPr id="32" name="Text 30"/>
          <p:cNvSpPr/>
          <p:nvPr/>
        </p:nvSpPr>
        <p:spPr>
          <a:xfrm>
            <a:off x="1523962" y="6423223"/>
            <a:ext cx="7086423" cy="171450"/>
          </a:xfrm>
          <a:prstGeom prst="rect">
            <a:avLst/>
          </a:prstGeom>
          <a:noFill/>
          <a:ln/>
        </p:spPr>
        <p:txBody>
          <a:bodyPr wrap="none" lIns="0" tIns="0" rIns="0" bIns="0" rtlCol="0" anchor="t"/>
          <a:lstStyle/>
          <a:p>
            <a:pPr marL="0" indent="0" algn="l">
              <a:lnSpc>
                <a:spcPct val="125000"/>
              </a:lnSpc>
              <a:buNone/>
            </a:pPr>
            <a:r>
              <a:rPr lang="en-US" sz="900" dirty="0">
                <a:solidFill>
                  <a:srgbClr val="A9C0B2"/>
                </a:solidFill>
                <a:latin typeface="Geist Mono" pitchFamily="34" charset="0"/>
                <a:ea typeface="Geist Mono" pitchFamily="34" charset="-122"/>
                <a:cs typeface="Geist Mono" pitchFamily="34" charset="-120"/>
              </a:rPr>
              <a:t>JAVA CONSOLE BOOKING PROJECT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534187" y="0"/>
            <a:ext cx="3657509" cy="6858000"/>
          </a:xfrm>
          <a:prstGeom prst="rect">
            <a:avLst/>
          </a:prstGeom>
          <a:solidFill>
            <a:srgbClr val="102E26"/>
          </a:solidFill>
          <a:ln/>
        </p:spPr>
      </p:sp>
      <p:sp>
        <p:nvSpPr>
          <p:cNvPr id="3" name="Text 1"/>
          <p:cNvSpPr/>
          <p:nvPr/>
        </p:nvSpPr>
        <p:spPr>
          <a:xfrm>
            <a:off x="8877078" y="809030"/>
            <a:ext cx="3314617" cy="329505"/>
          </a:xfrm>
          <a:prstGeom prst="rect">
            <a:avLst/>
          </a:prstGeom>
          <a:noFill/>
          <a:ln/>
        </p:spPr>
        <p:txBody>
          <a:bodyPr wrap="none" lIns="0" tIns="0" rIns="0" bIns="0" rtlCol="0" anchor="t"/>
          <a:lstStyle/>
          <a:p>
            <a:pPr marL="0" indent="0" algn="l">
              <a:lnSpc>
                <a:spcPct val="125000"/>
              </a:lnSpc>
              <a:buNone/>
            </a:pPr>
            <a:r>
              <a:rPr lang="en-US" sz="1750" dirty="0">
                <a:solidFill>
                  <a:srgbClr val="F3F6EE"/>
                </a:solidFill>
                <a:latin typeface="Geist Medium" pitchFamily="34" charset="0"/>
                <a:ea typeface="Geist Medium" pitchFamily="34" charset="-122"/>
                <a:cs typeface="Geist Medium" pitchFamily="34" charset="-120"/>
              </a:rPr>
              <a:t>BOOKING PERSISTENCE</a:t>
            </a:r>
            <a:endParaRPr lang="en-US" sz="1750" dirty="0"/>
          </a:p>
        </p:txBody>
      </p:sp>
      <p:sp>
        <p:nvSpPr>
          <p:cNvPr id="4" name="Text 2"/>
          <p:cNvSpPr/>
          <p:nvPr/>
        </p:nvSpPr>
        <p:spPr>
          <a:xfrm>
            <a:off x="8877078" y="1395214"/>
            <a:ext cx="3314617" cy="228600"/>
          </a:xfrm>
          <a:prstGeom prst="rect">
            <a:avLst/>
          </a:prstGeom>
          <a:noFill/>
          <a:ln/>
        </p:spPr>
        <p:txBody>
          <a:bodyPr wrap="none" lIns="0" tIns="0" rIns="0" bIns="0" rtlCol="0" anchor="t"/>
          <a:lstStyle/>
          <a:p>
            <a:pPr marL="0" indent="0" algn="l">
              <a:lnSpc>
                <a:spcPct val="125000"/>
              </a:lnSpc>
              <a:buNone/>
            </a:pPr>
            <a:r>
              <a:rPr lang="en-US" sz="1200" dirty="0">
                <a:solidFill>
                  <a:srgbClr val="A9C0B2"/>
                </a:solidFill>
                <a:latin typeface="Geist" pitchFamily="34" charset="0"/>
                <a:ea typeface="Geist" pitchFamily="34" charset="-122"/>
                <a:cs typeface="Geist" pitchFamily="34" charset="-120"/>
              </a:rPr>
              <a:t>A text file restores seat status.</a:t>
            </a:r>
            <a:endParaRPr lang="en-US" sz="1200" dirty="0"/>
          </a:p>
        </p:txBody>
      </p:sp>
      <p:sp>
        <p:nvSpPr>
          <p:cNvPr id="5" name="Shape 3"/>
          <p:cNvSpPr/>
          <p:nvPr/>
        </p:nvSpPr>
        <p:spPr>
          <a:xfrm>
            <a:off x="8877078" y="2238375"/>
            <a:ext cx="2857429" cy="609600"/>
          </a:xfrm>
          <a:prstGeom prst="roundRect">
            <a:avLst>
              <a:gd name="adj" fmla="val 7500"/>
            </a:avLst>
          </a:prstGeom>
          <a:solidFill>
            <a:srgbClr val="2B5146"/>
          </a:solidFill>
          <a:ln/>
        </p:spPr>
      </p:sp>
      <p:sp>
        <p:nvSpPr>
          <p:cNvPr id="6" name="Text 4"/>
          <p:cNvSpPr/>
          <p:nvPr/>
        </p:nvSpPr>
        <p:spPr>
          <a:xfrm>
            <a:off x="8724682" y="2419945"/>
            <a:ext cx="3162221" cy="243780"/>
          </a:xfrm>
          <a:prstGeom prst="rect">
            <a:avLst/>
          </a:prstGeom>
          <a:noFill/>
          <a:ln/>
        </p:spPr>
        <p:txBody>
          <a:bodyPr wrap="none" lIns="0" tIns="0" rIns="0" bIns="0" rtlCol="0" anchor="t"/>
          <a:lstStyle/>
          <a:p>
            <a:pPr marL="0" indent="0" algn="ctr">
              <a:lnSpc>
                <a:spcPct val="125000"/>
              </a:lnSpc>
              <a:buNone/>
            </a:pPr>
            <a:r>
              <a:rPr lang="en-US" sz="1300" dirty="0">
                <a:solidFill>
                  <a:srgbClr val="F3F6EE"/>
                </a:solidFill>
                <a:latin typeface="Geist" pitchFamily="34" charset="0"/>
                <a:ea typeface="Geist" pitchFamily="34" charset="-122"/>
                <a:cs typeface="Geist" pitchFamily="34" charset="-120"/>
              </a:rPr>
              <a:t>Startup: readAllLines()</a:t>
            </a:r>
            <a:endParaRPr lang="en-US" sz="1300" dirty="0"/>
          </a:p>
        </p:txBody>
      </p:sp>
      <p:sp>
        <p:nvSpPr>
          <p:cNvPr id="7" name="Text 5"/>
          <p:cNvSpPr/>
          <p:nvPr/>
        </p:nvSpPr>
        <p:spPr>
          <a:xfrm>
            <a:off x="9410465" y="2876550"/>
            <a:ext cx="1752556" cy="342900"/>
          </a:xfrm>
          <a:prstGeom prst="rect">
            <a:avLst/>
          </a:prstGeom>
          <a:noFill/>
          <a:ln/>
        </p:spPr>
        <p:txBody>
          <a:bodyPr wrap="none" lIns="0" tIns="0" rIns="0" bIns="0" rtlCol="0" anchor="t"/>
          <a:lstStyle/>
          <a:p>
            <a:pPr marL="0" indent="0" algn="ctr">
              <a:lnSpc>
                <a:spcPct val="125000"/>
              </a:lnSpc>
              <a:buNone/>
            </a:pPr>
            <a:r>
              <a:rPr lang="en-US" sz="1800" dirty="0">
                <a:solidFill>
                  <a:srgbClr val="C9E265"/>
                </a:solidFill>
                <a:latin typeface="Geist" pitchFamily="34" charset="0"/>
                <a:ea typeface="Geist" pitchFamily="34" charset="-122"/>
                <a:cs typeface="Geist" pitchFamily="34" charset="-120"/>
              </a:rPr>
              <a:t>↓</a:t>
            </a:r>
            <a:endParaRPr lang="en-US" sz="1800" dirty="0"/>
          </a:p>
        </p:txBody>
      </p:sp>
      <p:sp>
        <p:nvSpPr>
          <p:cNvPr id="8" name="Shape 6"/>
          <p:cNvSpPr/>
          <p:nvPr/>
        </p:nvSpPr>
        <p:spPr>
          <a:xfrm>
            <a:off x="8877078" y="3209925"/>
            <a:ext cx="2857429" cy="685800"/>
          </a:xfrm>
          <a:prstGeom prst="roundRect">
            <a:avLst>
              <a:gd name="adj" fmla="val 6667"/>
            </a:avLst>
          </a:prstGeom>
          <a:solidFill>
            <a:srgbClr val="2B5146"/>
          </a:solidFill>
          <a:ln/>
        </p:spPr>
      </p:sp>
      <p:sp>
        <p:nvSpPr>
          <p:cNvPr id="9" name="Text 7"/>
          <p:cNvSpPr/>
          <p:nvPr/>
        </p:nvSpPr>
        <p:spPr>
          <a:xfrm>
            <a:off x="8724682" y="3429595"/>
            <a:ext cx="3162221" cy="243780"/>
          </a:xfrm>
          <a:prstGeom prst="rect">
            <a:avLst/>
          </a:prstGeom>
          <a:noFill/>
          <a:ln/>
        </p:spPr>
        <p:txBody>
          <a:bodyPr wrap="none" lIns="0" tIns="0" rIns="0" bIns="0" rtlCol="0" anchor="t"/>
          <a:lstStyle/>
          <a:p>
            <a:pPr marL="0" indent="0" algn="ctr">
              <a:lnSpc>
                <a:spcPct val="125000"/>
              </a:lnSpc>
              <a:buNone/>
            </a:pPr>
            <a:r>
              <a:rPr lang="en-US" sz="1300" dirty="0">
                <a:solidFill>
                  <a:srgbClr val="F3F6EE"/>
                </a:solidFill>
                <a:latin typeface="Geist" pitchFamily="34" charset="0"/>
                <a:ea typeface="Geist" pitchFamily="34" charset="-122"/>
                <a:cs typeface="Geist" pitchFamily="34" charset="-120"/>
              </a:rPr>
              <a:t>Restore previously booked seats</a:t>
            </a:r>
            <a:endParaRPr lang="en-US" sz="1300" dirty="0"/>
          </a:p>
        </p:txBody>
      </p:sp>
      <p:sp>
        <p:nvSpPr>
          <p:cNvPr id="10" name="Text 8"/>
          <p:cNvSpPr/>
          <p:nvPr/>
        </p:nvSpPr>
        <p:spPr>
          <a:xfrm>
            <a:off x="9410465" y="3924300"/>
            <a:ext cx="1752556" cy="342900"/>
          </a:xfrm>
          <a:prstGeom prst="rect">
            <a:avLst/>
          </a:prstGeom>
          <a:noFill/>
          <a:ln/>
        </p:spPr>
        <p:txBody>
          <a:bodyPr wrap="none" lIns="0" tIns="0" rIns="0" bIns="0" rtlCol="0" anchor="t"/>
          <a:lstStyle/>
          <a:p>
            <a:pPr marL="0" indent="0" algn="ctr">
              <a:lnSpc>
                <a:spcPct val="125000"/>
              </a:lnSpc>
              <a:buNone/>
            </a:pPr>
            <a:r>
              <a:rPr lang="en-US" sz="1800" dirty="0">
                <a:solidFill>
                  <a:srgbClr val="C9E265"/>
                </a:solidFill>
                <a:latin typeface="Geist" pitchFamily="34" charset="0"/>
                <a:ea typeface="Geist" pitchFamily="34" charset="-122"/>
                <a:cs typeface="Geist" pitchFamily="34" charset="-120"/>
              </a:rPr>
              <a:t>↓</a:t>
            </a:r>
            <a:endParaRPr lang="en-US" sz="1800" dirty="0"/>
          </a:p>
        </p:txBody>
      </p:sp>
      <p:sp>
        <p:nvSpPr>
          <p:cNvPr id="11" name="Shape 9"/>
          <p:cNvSpPr/>
          <p:nvPr/>
        </p:nvSpPr>
        <p:spPr>
          <a:xfrm>
            <a:off x="8877078" y="4267200"/>
            <a:ext cx="2857429" cy="685800"/>
          </a:xfrm>
          <a:prstGeom prst="roundRect">
            <a:avLst>
              <a:gd name="adj" fmla="val 6667"/>
            </a:avLst>
          </a:prstGeom>
          <a:solidFill>
            <a:srgbClr val="2B5146"/>
          </a:solidFill>
          <a:ln/>
        </p:spPr>
      </p:sp>
      <p:sp>
        <p:nvSpPr>
          <p:cNvPr id="12" name="Text 10"/>
          <p:cNvSpPr/>
          <p:nvPr/>
        </p:nvSpPr>
        <p:spPr>
          <a:xfrm>
            <a:off x="9029474" y="4389735"/>
            <a:ext cx="2552636" cy="487561"/>
          </a:xfrm>
          <a:prstGeom prst="rect">
            <a:avLst/>
          </a:prstGeom>
          <a:noFill/>
          <a:ln/>
        </p:spPr>
        <p:txBody>
          <a:bodyPr wrap="square" lIns="0" tIns="0" rIns="0" bIns="0" rtlCol="0" anchor="t">
            <a:normAutofit/>
          </a:bodyPr>
          <a:lstStyle/>
          <a:p>
            <a:pPr marL="0" indent="0" algn="ctr">
              <a:lnSpc>
                <a:spcPct val="125000"/>
              </a:lnSpc>
              <a:buNone/>
            </a:pPr>
            <a:r>
              <a:rPr lang="en-US" sz="1300" dirty="0">
                <a:solidFill>
                  <a:srgbClr val="F3F6EE"/>
                </a:solidFill>
                <a:latin typeface="Geist" pitchFamily="34" charset="0"/>
                <a:ea typeface="Geist" pitchFamily="34" charset="-122"/>
                <a:cs typeface="Geist" pitchFamily="34" charset="-120"/>
              </a:rPr>
              <a:t>Confirmation: writeString(APPEND)</a:t>
            </a:r>
            <a:endParaRPr lang="en-US" sz="1300" dirty="0"/>
          </a:p>
        </p:txBody>
      </p:sp>
      <p:sp>
        <p:nvSpPr>
          <p:cNvPr id="13" name="Text 11"/>
          <p:cNvSpPr/>
          <p:nvPr/>
        </p:nvSpPr>
        <p:spPr>
          <a:xfrm>
            <a:off x="609585" y="427831"/>
            <a:ext cx="8229394" cy="200025"/>
          </a:xfrm>
          <a:prstGeom prst="rect">
            <a:avLst/>
          </a:prstGeom>
          <a:noFill/>
          <a:ln/>
        </p:spPr>
        <p:txBody>
          <a:bodyPr wrap="none" lIns="0" tIns="0" rIns="0" bIns="0" rtlCol="0" anchor="t"/>
          <a:lstStyle/>
          <a:p>
            <a:pPr marL="0" indent="0" algn="l">
              <a:lnSpc>
                <a:spcPct val="125000"/>
              </a:lnSpc>
              <a:buNone/>
            </a:pPr>
            <a:r>
              <a:rPr lang="en-US" sz="1050" dirty="0">
                <a:solidFill>
                  <a:srgbClr val="A9C0B2"/>
                </a:solidFill>
                <a:latin typeface="Geist Mono Medium" pitchFamily="34" charset="0"/>
                <a:ea typeface="Geist Mono Medium" pitchFamily="34" charset="-122"/>
                <a:cs typeface="Geist Mono Medium" pitchFamily="34" charset="-120"/>
              </a:rPr>
              <a:t>STRINGS, LIBRARIES &amp; FILES</a:t>
            </a:r>
            <a:endParaRPr lang="en-US" sz="1050" dirty="0"/>
          </a:p>
        </p:txBody>
      </p:sp>
      <p:sp>
        <p:nvSpPr>
          <p:cNvPr id="14" name="Text 12"/>
          <p:cNvSpPr/>
          <p:nvPr/>
        </p:nvSpPr>
        <p:spPr>
          <a:xfrm>
            <a:off x="609585" y="642505"/>
            <a:ext cx="7562661" cy="1005681"/>
          </a:xfrm>
          <a:prstGeom prst="rect">
            <a:avLst/>
          </a:prstGeom>
          <a:noFill/>
          <a:ln/>
        </p:spPr>
        <p:txBody>
          <a:bodyPr wrap="square" lIns="0" tIns="0" rIns="0" bIns="0" rtlCol="0" anchor="t">
            <a:normAutofit/>
          </a:bodyPr>
          <a:lstStyle/>
          <a:p>
            <a:pPr marL="0" indent="0" algn="l">
              <a:lnSpc>
                <a:spcPct val="100000"/>
              </a:lnSpc>
              <a:buNone/>
            </a:pPr>
            <a:r>
              <a:rPr lang="en-US" sz="3300" dirty="0">
                <a:solidFill>
                  <a:srgbClr val="F3F6EE"/>
                </a:solidFill>
                <a:latin typeface="Geist" pitchFamily="34" charset="0"/>
                <a:ea typeface="Geist" pitchFamily="34" charset="-122"/>
                <a:cs typeface="Geist" pitchFamily="34" charset="-120"/>
              </a:rPr>
              <a:t>Module 5: Concepts Used in Our Project</a:t>
            </a:r>
            <a:endParaRPr lang="en-US" sz="3300" dirty="0"/>
          </a:p>
        </p:txBody>
      </p:sp>
      <p:sp>
        <p:nvSpPr>
          <p:cNvPr id="15" name="Shape 13"/>
          <p:cNvSpPr/>
          <p:nvPr/>
        </p:nvSpPr>
        <p:spPr>
          <a:xfrm>
            <a:off x="609585" y="1847850"/>
            <a:ext cx="2476438" cy="19050"/>
          </a:xfrm>
          <a:prstGeom prst="roundRect">
            <a:avLst>
              <a:gd name="adj" fmla="val 49999"/>
            </a:avLst>
          </a:prstGeom>
          <a:solidFill>
            <a:srgbClr val="2E5C4C"/>
          </a:solidFill>
          <a:ln/>
        </p:spPr>
      </p:sp>
      <p:sp>
        <p:nvSpPr>
          <p:cNvPr id="16" name="Text 14"/>
          <p:cNvSpPr/>
          <p:nvPr/>
        </p:nvSpPr>
        <p:spPr>
          <a:xfrm>
            <a:off x="609585" y="6419056"/>
            <a:ext cx="1419189" cy="200025"/>
          </a:xfrm>
          <a:prstGeom prst="rect">
            <a:avLst/>
          </a:prstGeom>
          <a:noFill/>
          <a:ln/>
        </p:spPr>
        <p:txBody>
          <a:bodyPr wrap="none" lIns="0" tIns="0" rIns="0" bIns="0" rtlCol="0" anchor="t"/>
          <a:lstStyle/>
          <a:p>
            <a:pPr marL="0" indent="0" algn="l">
              <a:lnSpc>
                <a:spcPct val="125000"/>
              </a:lnSpc>
              <a:buNone/>
            </a:pPr>
            <a:r>
              <a:rPr lang="en-US" sz="1050" dirty="0">
                <a:solidFill>
                  <a:srgbClr val="A9C0B2"/>
                </a:solidFill>
                <a:latin typeface="Geist Mono" pitchFamily="34" charset="0"/>
                <a:ea typeface="Geist Mono" pitchFamily="34" charset="-122"/>
                <a:cs typeface="Geist Mono" pitchFamily="34" charset="-120"/>
              </a:rPr>
              <a:t>07</a:t>
            </a:r>
            <a:endParaRPr lang="en-US" sz="1050" dirty="0"/>
          </a:p>
        </p:txBody>
      </p:sp>
      <p:sp>
        <p:nvSpPr>
          <p:cNvPr id="17" name="Shape 15"/>
          <p:cNvSpPr/>
          <p:nvPr/>
        </p:nvSpPr>
        <p:spPr>
          <a:xfrm>
            <a:off x="609585" y="2057400"/>
            <a:ext cx="3676558" cy="1238250"/>
          </a:xfrm>
          <a:prstGeom prst="roundRect">
            <a:avLst>
              <a:gd name="adj" fmla="val 3692"/>
            </a:avLst>
          </a:prstGeom>
          <a:solidFill>
            <a:srgbClr val="2B5146"/>
          </a:solidFill>
          <a:ln/>
        </p:spPr>
      </p:sp>
      <p:sp>
        <p:nvSpPr>
          <p:cNvPr id="18" name="Text 16"/>
          <p:cNvSpPr/>
          <p:nvPr/>
        </p:nvSpPr>
        <p:spPr>
          <a:xfrm>
            <a:off x="790555" y="2219325"/>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String Processing</a:t>
            </a:r>
            <a:endParaRPr lang="en-US" sz="1500" dirty="0"/>
          </a:p>
        </p:txBody>
      </p:sp>
      <p:sp>
        <p:nvSpPr>
          <p:cNvPr id="19" name="Text 17"/>
          <p:cNvSpPr/>
          <p:nvPr/>
        </p:nvSpPr>
        <p:spPr>
          <a:xfrm>
            <a:off x="790555" y="2549604"/>
            <a:ext cx="3314617" cy="584895"/>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D9E4DC"/>
                </a:solidFill>
                <a:latin typeface="Geist" pitchFamily="34" charset="0"/>
                <a:ea typeface="Geist" pitchFamily="34" charset="-122"/>
                <a:cs typeface="Geist" pitchFamily="34" charset="-120"/>
              </a:rPr>
              <a:t>trim removes extra spaces; equalsIgnoreCase checks yes/no; split reads saved comma-separated records.</a:t>
            </a:r>
            <a:endParaRPr lang="en-US" sz="1300" dirty="0"/>
          </a:p>
        </p:txBody>
      </p:sp>
      <p:sp>
        <p:nvSpPr>
          <p:cNvPr id="20" name="Shape 18"/>
          <p:cNvSpPr/>
          <p:nvPr/>
        </p:nvSpPr>
        <p:spPr>
          <a:xfrm>
            <a:off x="4438539" y="2057400"/>
            <a:ext cx="3676558" cy="1238250"/>
          </a:xfrm>
          <a:prstGeom prst="roundRect">
            <a:avLst>
              <a:gd name="adj" fmla="val 3692"/>
            </a:avLst>
          </a:prstGeom>
          <a:solidFill>
            <a:srgbClr val="2B5146"/>
          </a:solidFill>
          <a:ln/>
        </p:spPr>
      </p:sp>
      <p:sp>
        <p:nvSpPr>
          <p:cNvPr id="21" name="Text 19"/>
          <p:cNvSpPr/>
          <p:nvPr/>
        </p:nvSpPr>
        <p:spPr>
          <a:xfrm>
            <a:off x="4619509" y="2219325"/>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String Immutability</a:t>
            </a:r>
            <a:endParaRPr lang="en-US" sz="1500" dirty="0"/>
          </a:p>
        </p:txBody>
      </p:sp>
      <p:sp>
        <p:nvSpPr>
          <p:cNvPr id="22" name="Text 20"/>
          <p:cNvSpPr/>
          <p:nvPr/>
        </p:nvSpPr>
        <p:spPr>
          <a:xfrm>
            <a:off x="4619509" y="2549604"/>
            <a:ext cx="3257469" cy="584895"/>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D9E4DC"/>
                </a:solidFill>
                <a:latin typeface="Geist" pitchFamily="34" charset="0"/>
                <a:ea typeface="Geist" pitchFamily="34" charset="-122"/>
                <a:cs typeface="Geist" pitchFamily="34" charset="-120"/>
              </a:rPr>
              <a:t>String operations return text values; the program stores the trimmed or split results for use.</a:t>
            </a:r>
            <a:endParaRPr lang="en-US" sz="1300" dirty="0"/>
          </a:p>
        </p:txBody>
      </p:sp>
      <p:sp>
        <p:nvSpPr>
          <p:cNvPr id="23" name="Shape 21"/>
          <p:cNvSpPr/>
          <p:nvPr/>
        </p:nvSpPr>
        <p:spPr>
          <a:xfrm>
            <a:off x="609585" y="3457575"/>
            <a:ext cx="3676558" cy="1238250"/>
          </a:xfrm>
          <a:prstGeom prst="roundRect">
            <a:avLst>
              <a:gd name="adj" fmla="val 3692"/>
            </a:avLst>
          </a:prstGeom>
          <a:solidFill>
            <a:srgbClr val="2B5146"/>
          </a:solidFill>
          <a:ln/>
        </p:spPr>
      </p:sp>
      <p:sp>
        <p:nvSpPr>
          <p:cNvPr id="24" name="Text 22"/>
          <p:cNvSpPr/>
          <p:nvPr/>
        </p:nvSpPr>
        <p:spPr>
          <a:xfrm>
            <a:off x="790555" y="3619500"/>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File Input</a:t>
            </a:r>
            <a:endParaRPr lang="en-US" sz="1500" dirty="0"/>
          </a:p>
        </p:txBody>
      </p:sp>
      <p:sp>
        <p:nvSpPr>
          <p:cNvPr id="25" name="Text 23"/>
          <p:cNvSpPr/>
          <p:nvPr/>
        </p:nvSpPr>
        <p:spPr>
          <a:xfrm>
            <a:off x="790555" y="3945830"/>
            <a:ext cx="3257469" cy="487561"/>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D9E4DC"/>
                </a:solidFill>
                <a:latin typeface="Geist" pitchFamily="34" charset="0"/>
                <a:ea typeface="Geist" pitchFamily="34" charset="-122"/>
                <a:cs typeface="Geist" pitchFamily="34" charset="-120"/>
              </a:rPr>
              <a:t>Files.readAllLines loads saved bookings when the program starts.</a:t>
            </a:r>
            <a:endParaRPr lang="en-US" sz="1300" dirty="0"/>
          </a:p>
        </p:txBody>
      </p:sp>
      <p:sp>
        <p:nvSpPr>
          <p:cNvPr id="26" name="Shape 24"/>
          <p:cNvSpPr/>
          <p:nvPr/>
        </p:nvSpPr>
        <p:spPr>
          <a:xfrm>
            <a:off x="4438539" y="3457575"/>
            <a:ext cx="3676558" cy="1238250"/>
          </a:xfrm>
          <a:prstGeom prst="roundRect">
            <a:avLst>
              <a:gd name="adj" fmla="val 3692"/>
            </a:avLst>
          </a:prstGeom>
          <a:solidFill>
            <a:srgbClr val="2B5146"/>
          </a:solidFill>
          <a:ln/>
        </p:spPr>
      </p:sp>
      <p:sp>
        <p:nvSpPr>
          <p:cNvPr id="27" name="Text 25"/>
          <p:cNvSpPr/>
          <p:nvPr/>
        </p:nvSpPr>
        <p:spPr>
          <a:xfrm>
            <a:off x="4619509" y="3619500"/>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File Output</a:t>
            </a:r>
            <a:endParaRPr lang="en-US" sz="1500" dirty="0"/>
          </a:p>
        </p:txBody>
      </p:sp>
      <p:sp>
        <p:nvSpPr>
          <p:cNvPr id="28" name="Text 26"/>
          <p:cNvSpPr/>
          <p:nvPr/>
        </p:nvSpPr>
        <p:spPr>
          <a:xfrm>
            <a:off x="4619509" y="3949779"/>
            <a:ext cx="3314617" cy="38993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D9E4DC"/>
                </a:solidFill>
                <a:latin typeface="Geist" pitchFamily="34" charset="0"/>
                <a:ea typeface="Geist" pitchFamily="34" charset="-122"/>
                <a:cs typeface="Geist" pitchFamily="34" charset="-120"/>
              </a:rPr>
              <a:t>Files.writeString appends each confirmed booking using CREATE and APPEND options.</a:t>
            </a:r>
            <a:endParaRPr lang="en-US" sz="1300" dirty="0"/>
          </a:p>
        </p:txBody>
      </p:sp>
      <p:sp>
        <p:nvSpPr>
          <p:cNvPr id="29" name="Shape 27"/>
          <p:cNvSpPr/>
          <p:nvPr/>
        </p:nvSpPr>
        <p:spPr>
          <a:xfrm>
            <a:off x="609585" y="4857750"/>
            <a:ext cx="3676558" cy="1238250"/>
          </a:xfrm>
          <a:prstGeom prst="roundRect">
            <a:avLst>
              <a:gd name="adj" fmla="val 3692"/>
            </a:avLst>
          </a:prstGeom>
          <a:solidFill>
            <a:srgbClr val="2B5146"/>
          </a:solidFill>
          <a:ln/>
        </p:spPr>
      </p:sp>
      <p:sp>
        <p:nvSpPr>
          <p:cNvPr id="30" name="Text 28"/>
          <p:cNvSpPr/>
          <p:nvPr/>
        </p:nvSpPr>
        <p:spPr>
          <a:xfrm>
            <a:off x="790555" y="5019675"/>
            <a:ext cx="3924202" cy="285750"/>
          </a:xfrm>
          <a:prstGeom prst="rect">
            <a:avLst/>
          </a:prstGeom>
          <a:noFill/>
          <a:ln/>
        </p:spPr>
        <p:txBody>
          <a:bodyPr wrap="none" lIns="0" tIns="0" rIns="0" bIns="0" rtlCol="0" anchor="t"/>
          <a:lstStyle/>
          <a:p>
            <a:pPr marL="0" indent="0" algn="l">
              <a:lnSpc>
                <a:spcPct val="125000"/>
              </a:lnSpc>
              <a:buNone/>
            </a:pPr>
            <a:r>
              <a:rPr lang="en-US" sz="1500" dirty="0">
                <a:solidFill>
                  <a:srgbClr val="F3F6EE"/>
                </a:solidFill>
                <a:latin typeface="Geist Medium" pitchFamily="34" charset="0"/>
                <a:ea typeface="Geist Medium" pitchFamily="34" charset="-122"/>
                <a:cs typeface="Geist Medium" pitchFamily="34" charset="-120"/>
              </a:rPr>
              <a:t>Library Types</a:t>
            </a:r>
            <a:endParaRPr lang="en-US" sz="1500" dirty="0"/>
          </a:p>
        </p:txBody>
      </p:sp>
      <p:sp>
        <p:nvSpPr>
          <p:cNvPr id="31" name="Text 29"/>
          <p:cNvSpPr/>
          <p:nvPr/>
        </p:nvSpPr>
        <p:spPr>
          <a:xfrm>
            <a:off x="790555" y="5346005"/>
            <a:ext cx="3314617" cy="487561"/>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D9E4DC"/>
                </a:solidFill>
                <a:latin typeface="Geist" pitchFamily="34" charset="0"/>
                <a:ea typeface="Geist" pitchFamily="34" charset="-122"/>
                <a:cs typeface="Geist" pitchFamily="34" charset="-120"/>
              </a:rPr>
              <a:t>Path identifies the file; System.lineSeparator adds a platform-appropriate line break.</a:t>
            </a:r>
            <a:endParaRPr lang="en-US" sz="1300" dirty="0"/>
          </a:p>
        </p:txBody>
      </p:sp>
      <p:sp>
        <p:nvSpPr>
          <p:cNvPr id="32" name="Text 30"/>
          <p:cNvSpPr/>
          <p:nvPr/>
        </p:nvSpPr>
        <p:spPr>
          <a:xfrm>
            <a:off x="1523962" y="6423223"/>
            <a:ext cx="7086423" cy="171450"/>
          </a:xfrm>
          <a:prstGeom prst="rect">
            <a:avLst/>
          </a:prstGeom>
          <a:noFill/>
          <a:ln/>
        </p:spPr>
        <p:txBody>
          <a:bodyPr wrap="none" lIns="0" tIns="0" rIns="0" bIns="0" rtlCol="0" anchor="t"/>
          <a:lstStyle/>
          <a:p>
            <a:pPr marL="0" indent="0" algn="l">
              <a:lnSpc>
                <a:spcPct val="125000"/>
              </a:lnSpc>
              <a:buNone/>
            </a:pPr>
            <a:r>
              <a:rPr lang="en-US" sz="900" dirty="0">
                <a:solidFill>
                  <a:srgbClr val="A9C0B2"/>
                </a:solidFill>
                <a:latin typeface="Geist Mono" pitchFamily="34" charset="0"/>
                <a:ea typeface="Geist Mono" pitchFamily="34" charset="-122"/>
                <a:cs typeface="Geist Mono" pitchFamily="34" charset="-120"/>
              </a:rPr>
              <a:t>JAVA CONSOLE BOOKING PROJECT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219170" y="762000"/>
            <a:ext cx="10972526" cy="200025"/>
          </a:xfrm>
          <a:prstGeom prst="rect">
            <a:avLst/>
          </a:prstGeom>
          <a:noFill/>
          <a:ln/>
        </p:spPr>
        <p:txBody>
          <a:bodyPr wrap="none" lIns="0" tIns="0" rIns="0" bIns="0" rtlCol="0" anchor="t"/>
          <a:lstStyle/>
          <a:p>
            <a:pPr marL="0" indent="0" algn="l">
              <a:lnSpc>
                <a:spcPct val="125000"/>
              </a:lnSpc>
              <a:buNone/>
            </a:pPr>
            <a:r>
              <a:rPr lang="en-US" sz="1050" kern="100" spc="63" dirty="0">
                <a:solidFill>
                  <a:srgbClr val="A9C0B2"/>
                </a:solidFill>
                <a:latin typeface="Geist Mono Medium" pitchFamily="34" charset="0"/>
                <a:ea typeface="Geist Mono Medium" pitchFamily="34" charset="-122"/>
                <a:cs typeface="Geist Mono Medium" pitchFamily="34" charset="-120"/>
              </a:rPr>
              <a:t>PROJECT CONCLUSION</a:t>
            </a:r>
            <a:endParaRPr lang="en-US" sz="1050" dirty="0"/>
          </a:p>
        </p:txBody>
      </p:sp>
      <p:sp>
        <p:nvSpPr>
          <p:cNvPr id="3" name="Text 1"/>
          <p:cNvSpPr/>
          <p:nvPr/>
        </p:nvSpPr>
        <p:spPr>
          <a:xfrm>
            <a:off x="1219170" y="1063038"/>
            <a:ext cx="10362941" cy="492125"/>
          </a:xfrm>
          <a:prstGeom prst="rect">
            <a:avLst/>
          </a:prstGeom>
          <a:noFill/>
          <a:ln/>
        </p:spPr>
        <p:txBody>
          <a:bodyPr wrap="none" lIns="0" tIns="0" rIns="0" bIns="0" rtlCol="0" anchor="t"/>
          <a:lstStyle/>
          <a:p>
            <a:pPr marL="0" indent="0" algn="l">
              <a:lnSpc>
                <a:spcPct val="100000"/>
              </a:lnSpc>
              <a:buNone/>
            </a:pPr>
            <a:r>
              <a:rPr lang="en-US" sz="3250" dirty="0">
                <a:solidFill>
                  <a:srgbClr val="F3F6EE"/>
                </a:solidFill>
                <a:latin typeface="Geist" pitchFamily="34" charset="0"/>
                <a:ea typeface="Geist" pitchFamily="34" charset="-122"/>
                <a:cs typeface="Geist" pitchFamily="34" charset="-120"/>
              </a:rPr>
              <a:t>Conclusion</a:t>
            </a:r>
            <a:endParaRPr lang="en-US" sz="3250" dirty="0"/>
          </a:p>
        </p:txBody>
      </p:sp>
      <p:sp>
        <p:nvSpPr>
          <p:cNvPr id="4" name="Text 2"/>
          <p:cNvSpPr/>
          <p:nvPr/>
        </p:nvSpPr>
        <p:spPr>
          <a:xfrm>
            <a:off x="1219170" y="3467100"/>
            <a:ext cx="10362941" cy="1746746"/>
          </a:xfrm>
          <a:prstGeom prst="rect">
            <a:avLst/>
          </a:prstGeom>
          <a:noFill/>
          <a:ln/>
        </p:spPr>
        <p:txBody>
          <a:bodyPr wrap="square" lIns="0" tIns="0" rIns="0" bIns="0" rtlCol="0" anchor="t">
            <a:normAutofit/>
          </a:bodyPr>
          <a:lstStyle/>
          <a:p>
            <a:pPr marL="0" indent="0" algn="l">
              <a:lnSpc>
                <a:spcPct val="100000"/>
              </a:lnSpc>
              <a:spcAft>
                <a:spcPts val="1550"/>
              </a:spcAft>
              <a:buNone/>
            </a:pPr>
            <a:r>
              <a:rPr lang="en-US" sz="1450" dirty="0">
                <a:solidFill>
                  <a:srgbClr val="D9E4DC"/>
                </a:solidFill>
                <a:latin typeface="Geist" pitchFamily="34" charset="0"/>
                <a:ea typeface="Geist" pitchFamily="34" charset="-122"/>
                <a:cs typeface="Geist" pitchFamily="34" charset="-120"/>
              </a:rPr>
              <a:t>The Cinema Seat Booking System demonstrates how Java programming concepts can be used to simplify and organize the movie ticket booking process. The system allows users to select movies, choose show timings, check seat availability, and manage booking details through a console-based interface. By applying variables, conditional statements, loops, arrays, searching, and counting, the project provides a structured approach to seat management and booking operations. This project strengthens our understanding of Java fundamentals and their practical applications in real-world scenarios.</a:t>
            </a:r>
            <a:endParaRPr lang="en-US" sz="1450" dirty="0"/>
          </a:p>
          <a:p>
            <a:pPr marL="0" indent="0" algn="l">
              <a:lnSpc>
                <a:spcPct val="100000"/>
              </a:lnSpc>
              <a:buNone/>
            </a:pPr>
            <a:r>
              <a:rPr lang="en-US" sz="1450" dirty="0">
                <a:solidFill>
                  <a:srgbClr val="F3F6EE"/>
                </a:solidFill>
                <a:latin typeface="Geist" pitchFamily="34" charset="0"/>
                <a:ea typeface="Geist" pitchFamily="34" charset="-122"/>
                <a:cs typeface="Geist" pitchFamily="34" charset="-120"/>
              </a:rPr>
              <a:t>Future Scope: </a:t>
            </a:r>
            <a:r>
              <a:rPr lang="en-US" sz="1450" dirty="0">
                <a:solidFill>
                  <a:srgbClr val="D9E4DC"/>
                </a:solidFill>
                <a:latin typeface="Geist" pitchFamily="34" charset="0"/>
                <a:ea typeface="Geist" pitchFamily="34" charset="-122"/>
                <a:cs typeface="Geist" pitchFamily="34" charset="-120"/>
              </a:rPr>
              <a:t>The system can be enhanced by adding a graphical user interface, database connectivity, online payment facilities, and real-time seat availability updates.</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34187" y="0"/>
            <a:ext cx="3657509" cy="6858000"/>
          </a:xfrm>
          <a:prstGeom prst="rect">
            <a:avLst/>
          </a:prstGeom>
        </p:spPr>
      </p:pic>
      <p:sp>
        <p:nvSpPr>
          <p:cNvPr id="3" name="Text 0"/>
          <p:cNvSpPr/>
          <p:nvPr/>
        </p:nvSpPr>
        <p:spPr>
          <a:xfrm>
            <a:off x="666733" y="637381"/>
            <a:ext cx="8134147" cy="200025"/>
          </a:xfrm>
          <a:prstGeom prst="rect">
            <a:avLst/>
          </a:prstGeom>
          <a:noFill/>
          <a:ln/>
        </p:spPr>
        <p:txBody>
          <a:bodyPr wrap="none" lIns="0" tIns="0" rIns="0" bIns="0" rtlCol="0" anchor="t"/>
          <a:lstStyle/>
          <a:p>
            <a:pPr marL="0" indent="0" algn="l">
              <a:lnSpc>
                <a:spcPct val="125000"/>
              </a:lnSpc>
              <a:buNone/>
            </a:pPr>
            <a:r>
              <a:rPr lang="en-US" sz="1050" dirty="0">
                <a:solidFill>
                  <a:srgbClr val="A9C0B2"/>
                </a:solidFill>
                <a:latin typeface="Geist Mono Medium" pitchFamily="34" charset="0"/>
                <a:ea typeface="Geist Mono Medium" pitchFamily="34" charset="-122"/>
                <a:cs typeface="Geist Mono Medium" pitchFamily="34" charset="-120"/>
              </a:rPr>
              <a:t>PROJECT DEMONSTRATION</a:t>
            </a:r>
            <a:endParaRPr lang="en-US" sz="1050" dirty="0"/>
          </a:p>
        </p:txBody>
      </p:sp>
      <p:sp>
        <p:nvSpPr>
          <p:cNvPr id="4" name="Text 1"/>
          <p:cNvSpPr/>
          <p:nvPr/>
        </p:nvSpPr>
        <p:spPr>
          <a:xfrm>
            <a:off x="666733" y="962800"/>
            <a:ext cx="7524562" cy="515045"/>
          </a:xfrm>
          <a:prstGeom prst="rect">
            <a:avLst/>
          </a:prstGeom>
          <a:noFill/>
          <a:ln/>
        </p:spPr>
        <p:txBody>
          <a:bodyPr wrap="none" lIns="0" tIns="0" rIns="0" bIns="0" rtlCol="0" anchor="t"/>
          <a:lstStyle/>
          <a:p>
            <a:pPr marL="0" indent="0" algn="l">
              <a:lnSpc>
                <a:spcPct val="100000"/>
              </a:lnSpc>
              <a:buNone/>
            </a:pPr>
            <a:r>
              <a:rPr lang="en-US" sz="3400" dirty="0">
                <a:solidFill>
                  <a:srgbClr val="F3F6EE"/>
                </a:solidFill>
                <a:latin typeface="Geist" pitchFamily="34" charset="0"/>
                <a:ea typeface="Geist" pitchFamily="34" charset="-122"/>
                <a:cs typeface="Geist" pitchFamily="34" charset="-120"/>
              </a:rPr>
              <a:t>Sample Output</a:t>
            </a:r>
            <a:endParaRPr lang="en-US" sz="3400" dirty="0"/>
          </a:p>
        </p:txBody>
      </p:sp>
      <p:sp>
        <p:nvSpPr>
          <p:cNvPr id="5" name="Shape 2"/>
          <p:cNvSpPr/>
          <p:nvPr/>
        </p:nvSpPr>
        <p:spPr>
          <a:xfrm>
            <a:off x="666733" y="1657350"/>
            <a:ext cx="2400240" cy="19050"/>
          </a:xfrm>
          <a:prstGeom prst="roundRect">
            <a:avLst>
              <a:gd name="adj" fmla="val 49999"/>
            </a:avLst>
          </a:prstGeom>
          <a:solidFill>
            <a:srgbClr val="2E5C4C"/>
          </a:solidFill>
          <a:ln/>
        </p:spPr>
      </p:sp>
      <p:sp>
        <p:nvSpPr>
          <p:cNvPr id="7" name="Text 3"/>
          <p:cNvSpPr/>
          <p:nvPr/>
        </p:nvSpPr>
        <p:spPr>
          <a:xfrm>
            <a:off x="666733" y="6146998"/>
            <a:ext cx="7848404" cy="171450"/>
          </a:xfrm>
          <a:prstGeom prst="rect">
            <a:avLst/>
          </a:prstGeom>
          <a:noFill/>
          <a:ln/>
        </p:spPr>
        <p:txBody>
          <a:bodyPr wrap="none" lIns="0" tIns="0" rIns="0" bIns="0" rtlCol="0" anchor="t"/>
          <a:lstStyle/>
          <a:p>
            <a:pPr marL="0" indent="0" algn="l">
              <a:lnSpc>
                <a:spcPct val="125000"/>
              </a:lnSpc>
              <a:buNone/>
            </a:pPr>
            <a:r>
              <a:rPr lang="en-US" sz="900" dirty="0">
                <a:solidFill>
                  <a:srgbClr val="A9C0B2"/>
                </a:solidFill>
                <a:latin typeface="Geist Mono" pitchFamily="34" charset="0"/>
                <a:ea typeface="Geist Mono" pitchFamily="34" charset="-122"/>
                <a:cs typeface="Geist Mono" pitchFamily="34" charset="-120"/>
              </a:rPr>
              <a:t>EXAMPLE RUN · STARTS WITH NO SAVED BOOKINGS</a:t>
            </a:r>
            <a:endParaRPr lang="en-US" sz="900" dirty="0"/>
          </a:p>
        </p:txBody>
      </p:sp>
      <p:sp>
        <p:nvSpPr>
          <p:cNvPr id="8" name="Text 4"/>
          <p:cNvSpPr/>
          <p:nvPr/>
        </p:nvSpPr>
        <p:spPr>
          <a:xfrm>
            <a:off x="666733" y="6457950"/>
            <a:ext cx="1371566" cy="200025"/>
          </a:xfrm>
          <a:prstGeom prst="rect">
            <a:avLst/>
          </a:prstGeom>
          <a:noFill/>
          <a:ln/>
        </p:spPr>
        <p:txBody>
          <a:bodyPr wrap="none" lIns="0" tIns="0" rIns="0" bIns="0" rtlCol="0" anchor="t"/>
          <a:lstStyle/>
          <a:p>
            <a:pPr marL="0" indent="0" algn="l">
              <a:lnSpc>
                <a:spcPct val="125000"/>
              </a:lnSpc>
              <a:buNone/>
            </a:pPr>
            <a:r>
              <a:rPr lang="en-US" sz="1050" dirty="0">
                <a:solidFill>
                  <a:srgbClr val="A9C0B2"/>
                </a:solidFill>
                <a:latin typeface="Geist Mono" pitchFamily="34" charset="0"/>
                <a:ea typeface="Geist Mono" pitchFamily="34" charset="-122"/>
                <a:cs typeface="Geist Mono" pitchFamily="34" charset="-120"/>
              </a:rPr>
              <a:t>09</a:t>
            </a:r>
            <a:endParaRPr lang="en-US" sz="1050" dirty="0"/>
          </a:p>
        </p:txBody>
      </p:sp>
      <p:pic>
        <p:nvPicPr>
          <p:cNvPr id="10" name="Picture 9">
            <a:extLst>
              <a:ext uri="{FF2B5EF4-FFF2-40B4-BE49-F238E27FC236}">
                <a16:creationId xmlns:a16="http://schemas.microsoft.com/office/drawing/2014/main" id="{08F2E707-6166-0F13-FB26-5AE97202F129}"/>
              </a:ext>
            </a:extLst>
          </p:cNvPr>
          <p:cNvPicPr>
            <a:picLocks noChangeAspect="1"/>
          </p:cNvPicPr>
          <p:nvPr/>
        </p:nvPicPr>
        <p:blipFill>
          <a:blip r:embed="rId4"/>
          <a:stretch>
            <a:fillRect/>
          </a:stretch>
        </p:blipFill>
        <p:spPr>
          <a:xfrm>
            <a:off x="511728" y="1750183"/>
            <a:ext cx="6035941" cy="43270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14952" y="923230"/>
            <a:ext cx="6406295" cy="2766020"/>
          </a:xfrm>
          <a:prstGeom prst="rect">
            <a:avLst/>
          </a:prstGeom>
        </p:spPr>
      </p:pic>
      <p:sp>
        <p:nvSpPr>
          <p:cNvPr id="3" name="Text 0"/>
          <p:cNvSpPr/>
          <p:nvPr/>
        </p:nvSpPr>
        <p:spPr>
          <a:xfrm>
            <a:off x="714952" y="926405"/>
            <a:ext cx="6190401" cy="159941"/>
          </a:xfrm>
          <a:prstGeom prst="rect">
            <a:avLst/>
          </a:prstGeom>
          <a:noFill/>
          <a:ln/>
        </p:spPr>
        <p:txBody>
          <a:bodyPr wrap="none" lIns="0" tIns="0" rIns="0" bIns="0" rtlCol="0" anchor="t"/>
          <a:lstStyle/>
          <a:p>
            <a:pPr marL="0" indent="0" algn="l">
              <a:lnSpc>
                <a:spcPct val="100000"/>
              </a:lnSpc>
              <a:buNone/>
            </a:pPr>
            <a:r>
              <a:rPr lang="en-US" sz="1050" dirty="0">
                <a:solidFill>
                  <a:srgbClr val="A9C0B2"/>
                </a:solidFill>
                <a:latin typeface="Geist Mono Medium" pitchFamily="34" charset="0"/>
                <a:ea typeface="Geist Mono Medium" pitchFamily="34" charset="-122"/>
                <a:cs typeface="Geist Mono Medium" pitchFamily="34" charset="-120"/>
              </a:rPr>
              <a:t>PROJECT PRESENTATION CONCLUDED</a:t>
            </a:r>
            <a:endParaRPr lang="en-US" sz="1050" dirty="0"/>
          </a:p>
        </p:txBody>
      </p:sp>
      <p:sp>
        <p:nvSpPr>
          <p:cNvPr id="4" name="Text 1"/>
          <p:cNvSpPr/>
          <p:nvPr/>
        </p:nvSpPr>
        <p:spPr>
          <a:xfrm>
            <a:off x="714952" y="1330920"/>
            <a:ext cx="6190401" cy="723900"/>
          </a:xfrm>
          <a:prstGeom prst="rect">
            <a:avLst/>
          </a:prstGeom>
          <a:noFill/>
          <a:ln/>
        </p:spPr>
        <p:txBody>
          <a:bodyPr wrap="none" lIns="0" tIns="0" rIns="0" bIns="0" rtlCol="0" anchor="t"/>
          <a:lstStyle/>
          <a:p>
            <a:pPr marL="0" indent="0" algn="l">
              <a:lnSpc>
                <a:spcPct val="100000"/>
              </a:lnSpc>
              <a:buNone/>
            </a:pPr>
            <a:r>
              <a:rPr lang="en-US" sz="4750" dirty="0">
                <a:solidFill>
                  <a:srgbClr val="C9E265"/>
                </a:solidFill>
                <a:latin typeface="Geist Medium" pitchFamily="34" charset="0"/>
                <a:ea typeface="Geist Medium" pitchFamily="34" charset="-122"/>
                <a:cs typeface="Geist Medium" pitchFamily="34" charset="-120"/>
              </a:rPr>
              <a:t>THANK YOU</a:t>
            </a:r>
            <a:endParaRPr lang="en-US" sz="4750" dirty="0"/>
          </a:p>
        </p:txBody>
      </p:sp>
      <p:sp>
        <p:nvSpPr>
          <p:cNvPr id="5" name="Text 2"/>
          <p:cNvSpPr/>
          <p:nvPr/>
        </p:nvSpPr>
        <p:spPr>
          <a:xfrm>
            <a:off x="714952" y="2510189"/>
            <a:ext cx="6190401" cy="149225"/>
          </a:xfrm>
          <a:prstGeom prst="rect">
            <a:avLst/>
          </a:prstGeom>
          <a:noFill/>
          <a:ln/>
        </p:spPr>
        <p:txBody>
          <a:bodyPr wrap="none" lIns="0" tIns="0" rIns="0" bIns="0" rtlCol="0" anchor="t"/>
          <a:lstStyle/>
          <a:p>
            <a:pPr marL="0" indent="0" algn="l">
              <a:lnSpc>
                <a:spcPct val="100000"/>
              </a:lnSpc>
              <a:buNone/>
            </a:pPr>
            <a:r>
              <a:rPr lang="en-US" sz="1000" dirty="0">
                <a:solidFill>
                  <a:srgbClr val="A9C0B2"/>
                </a:solidFill>
                <a:latin typeface="Geist Mono" pitchFamily="34" charset="0"/>
                <a:ea typeface="Geist Mono" pitchFamily="34" charset="-122"/>
                <a:cs typeface="Geist Mono" pitchFamily="34" charset="-120"/>
              </a:rPr>
              <a:t>PRESENTED BY</a:t>
            </a:r>
            <a:endParaRPr lang="en-US" sz="1000" dirty="0"/>
          </a:p>
        </p:txBody>
      </p:sp>
      <p:sp>
        <p:nvSpPr>
          <p:cNvPr id="6" name="Text 3"/>
          <p:cNvSpPr/>
          <p:nvPr/>
        </p:nvSpPr>
        <p:spPr>
          <a:xfrm>
            <a:off x="714952" y="2777417"/>
            <a:ext cx="5904658" cy="722114"/>
          </a:xfrm>
          <a:prstGeom prst="rect">
            <a:avLst/>
          </a:prstGeom>
          <a:noFill/>
          <a:ln/>
        </p:spPr>
        <p:txBody>
          <a:bodyPr wrap="square" lIns="0" tIns="0" rIns="0" bIns="0" rtlCol="0" anchor="t">
            <a:normAutofit/>
          </a:bodyPr>
          <a:lstStyle/>
          <a:p>
            <a:pPr marL="0" indent="0" algn="l">
              <a:lnSpc>
                <a:spcPct val="100000"/>
              </a:lnSpc>
              <a:buNone/>
            </a:pPr>
            <a:r>
              <a:rPr lang="en-US" sz="1600" b="1" dirty="0">
                <a:solidFill>
                  <a:srgbClr val="D9E4DC"/>
                </a:solidFill>
                <a:latin typeface="Geist Bold" pitchFamily="34" charset="0"/>
                <a:ea typeface="Geist Bold" pitchFamily="34" charset="-122"/>
                <a:cs typeface="Geist Bold" pitchFamily="34" charset="-120"/>
              </a:rPr>
              <a:t>C. Akshitha Reddy – 2620030477</a:t>
            </a:r>
            <a:endParaRPr lang="en-US" sz="1600" dirty="0"/>
          </a:p>
          <a:p>
            <a:pPr marL="0" indent="0" algn="l">
              <a:lnSpc>
                <a:spcPct val="100000"/>
              </a:lnSpc>
              <a:buNone/>
            </a:pPr>
            <a:r>
              <a:rPr lang="en-US" sz="1600" b="1" dirty="0">
                <a:solidFill>
                  <a:srgbClr val="F3F6EE"/>
                </a:solidFill>
                <a:latin typeface="Geist Bold" pitchFamily="34" charset="0"/>
                <a:ea typeface="Geist Bold" pitchFamily="34" charset="-122"/>
                <a:cs typeface="Geist Bold" pitchFamily="34" charset="-120"/>
              </a:rPr>
              <a:t> </a:t>
            </a:r>
            <a:endParaRPr lang="en-US" sz="1600" dirty="0"/>
          </a:p>
          <a:p>
            <a:pPr marL="0" indent="0" algn="l">
              <a:lnSpc>
                <a:spcPct val="100000"/>
              </a:lnSpc>
              <a:buNone/>
            </a:pPr>
            <a:r>
              <a:rPr lang="en-US" sz="1600" b="1" dirty="0">
                <a:solidFill>
                  <a:srgbClr val="D9E4DC"/>
                </a:solidFill>
                <a:latin typeface="Geist Bold" pitchFamily="34" charset="0"/>
                <a:ea typeface="Geist Bold" pitchFamily="34" charset="-122"/>
                <a:cs typeface="Geist Bold" pitchFamily="34" charset="-120"/>
              </a:rPr>
              <a:t>C. Naga Vaishnavi – 2620030490</a:t>
            </a:r>
            <a:endParaRPr lang="en-US" sz="1600" dirty="0"/>
          </a:p>
        </p:txBody>
      </p:sp>
      <p:sp>
        <p:nvSpPr>
          <p:cNvPr id="7" name="Text 4"/>
          <p:cNvSpPr/>
          <p:nvPr/>
        </p:nvSpPr>
        <p:spPr>
          <a:xfrm>
            <a:off x="714952" y="6043270"/>
            <a:ext cx="6406295" cy="149225"/>
          </a:xfrm>
          <a:prstGeom prst="rect">
            <a:avLst/>
          </a:prstGeom>
          <a:noFill/>
          <a:ln/>
        </p:spPr>
        <p:txBody>
          <a:bodyPr wrap="none" lIns="0" tIns="0" rIns="0" bIns="0" rtlCol="0" anchor="t"/>
          <a:lstStyle/>
          <a:p>
            <a:pPr marL="0" indent="0" algn="l">
              <a:lnSpc>
                <a:spcPct val="100000"/>
              </a:lnSpc>
              <a:buNone/>
            </a:pPr>
            <a:r>
              <a:rPr lang="en-US" sz="1000" dirty="0">
                <a:solidFill>
                  <a:srgbClr val="D9E4DC"/>
                </a:solidFill>
                <a:latin typeface="Geist Mono" pitchFamily="34" charset="0"/>
                <a:ea typeface="Geist Mono" pitchFamily="34" charset="-122"/>
                <a:cs typeface="Geist Mono" pitchFamily="34" charset="-120"/>
              </a:rPr>
              <a:t>CINEMA SEAT BOOKING SYSTEM · JAVA CONSOLE APPLICATION</a:t>
            </a:r>
            <a:endParaRPr lang="en-US" sz="1000" dirty="0"/>
          </a:p>
        </p:txBody>
      </p:sp>
      <p:pic>
        <p:nvPicPr>
          <p:cNvPr id="8" name="Image 1" descr="preencoded.png"/>
          <p:cNvPicPr>
            <a:picLocks noChangeAspect="1"/>
          </p:cNvPicPr>
          <p:nvPr/>
        </p:nvPicPr>
        <p:blipFill>
          <a:blip r:embed="rId4"/>
          <a:stretch>
            <a:fillRect/>
          </a:stretch>
        </p:blipFill>
        <p:spPr>
          <a:xfrm>
            <a:off x="7315513" y="0"/>
            <a:ext cx="4876182"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1165</Words>
  <Application>Microsoft Office PowerPoint</Application>
  <PresentationFormat>Widescreen</PresentationFormat>
  <Paragraphs>144</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Geist Mono Medium</vt:lpstr>
      <vt:lpstr>Geist Mono</vt:lpstr>
      <vt:lpstr>Geist Medium</vt:lpstr>
      <vt:lpstr>Geist Bold</vt:lpstr>
      <vt:lpstr>Geist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Akshitha Reddy</cp:lastModifiedBy>
  <cp:revision>3</cp:revision>
  <dcterms:created xsi:type="dcterms:W3CDTF">2026-10-15T12:58:05Z</dcterms:created>
  <dcterms:modified xsi:type="dcterms:W3CDTF">2026-10-16T05:12:29Z</dcterms:modified>
</cp:coreProperties>
</file>